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5" r:id="rId4"/>
    <p:sldId id="266" r:id="rId5"/>
    <p:sldId id="259" r:id="rId6"/>
    <p:sldId id="260" r:id="rId7"/>
    <p:sldId id="269" r:id="rId8"/>
    <p:sldId id="267" r:id="rId9"/>
    <p:sldId id="261" r:id="rId10"/>
    <p:sldId id="263"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31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3C264-D38C-7CC8-C308-EFC38A91B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62A14-F3F4-9E0B-E020-64052DF5DF59}"/>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54F1C05E-4B04-97DE-7F54-717BC74E67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3F2BD1-DE84-F6AE-FF53-F8799C6E9A5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8095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22CF-D309-64A9-4058-6F0EFB3F1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332E5-B172-F2A6-1B38-EB329CE86018}"/>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CAED4AA6-CE25-56B7-BA82-155B867BE7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575A1-D830-F766-6040-DBC007C8D90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15411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371A7-322E-1937-7E6A-DBA47BA21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D3FF2-BCFB-FF04-0537-590C1AF3B970}"/>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8342D4F9-08F0-9405-EBBD-E548B31061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416D55-33F7-D02D-D0B3-F3E98432201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72888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920DD-937E-B6DD-DD56-22E8278FE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1E06D-9AB1-D153-4389-EDD8168E7A8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5E8D735D-29FC-C089-8D4B-818C2C1B38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E1A738-25C8-CDE3-1DC5-63726F10836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64310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 0"/>
          <p:cNvSpPr/>
          <p:nvPr/>
        </p:nvSpPr>
        <p:spPr>
          <a:xfrm>
            <a:off x="4135562" y="682079"/>
            <a:ext cx="872877" cy="960090"/>
          </a:xfrm>
          <a:prstGeom prst="rect">
            <a:avLst/>
          </a:prstGeom>
          <a:noFill/>
          <a:ln/>
        </p:spPr>
        <p:txBody>
          <a:bodyPr wrap="square" lIns="0" tIns="0" rIns="0" bIns="0" rtlCol="0" anchor="t"/>
          <a:lstStyle/>
          <a:p>
            <a:pPr marL="0" indent="0" algn="ctr">
              <a:lnSpc>
                <a:spcPts val="7560"/>
              </a:lnSpc>
              <a:spcAft>
                <a:spcPts val="1500"/>
              </a:spcAft>
              <a:buNone/>
            </a:pPr>
            <a:endParaRPr lang="en-US" sz="5400" dirty="0"/>
          </a:p>
        </p:txBody>
      </p:sp>
      <p:sp>
        <p:nvSpPr>
          <p:cNvPr id="3" name="Text 1"/>
          <p:cNvSpPr/>
          <p:nvPr/>
        </p:nvSpPr>
        <p:spPr>
          <a:xfrm>
            <a:off x="216600" y="453479"/>
            <a:ext cx="2033272" cy="457200"/>
          </a:xfrm>
          <a:prstGeom prst="rect">
            <a:avLst/>
          </a:prstGeom>
          <a:noFill/>
          <a:ln/>
        </p:spPr>
        <p:txBody>
          <a:bodyPr wrap="square" lIns="0" tIns="0" rIns="0" bIns="0" rtlCol="0" anchor="t"/>
          <a:lstStyle/>
          <a:p>
            <a:pPr marL="0" indent="0" algn="ctr">
              <a:lnSpc>
                <a:spcPts val="3600"/>
              </a:lnSpc>
              <a:buNone/>
            </a:pPr>
            <a:r>
              <a:rPr lang="en-US" sz="3600" b="1" dirty="0">
                <a:solidFill>
                  <a:srgbClr val="FFFFFF"/>
                </a:solidFill>
                <a:latin typeface="Georgia" pitchFamily="34" charset="0"/>
                <a:ea typeface="Georgia" pitchFamily="34" charset="-122"/>
                <a:cs typeface="Georgia" pitchFamily="34" charset="-120"/>
              </a:rPr>
              <a:t>Le Refuge</a:t>
            </a:r>
            <a:endParaRPr lang="en-US" sz="3600" dirty="0"/>
          </a:p>
        </p:txBody>
      </p:sp>
      <p:sp>
        <p:nvSpPr>
          <p:cNvPr id="4" name="Text 2"/>
          <p:cNvSpPr/>
          <p:nvPr/>
        </p:nvSpPr>
        <p:spPr>
          <a:xfrm>
            <a:off x="2521599" y="1455538"/>
            <a:ext cx="6122890" cy="373261"/>
          </a:xfrm>
          <a:prstGeom prst="rect">
            <a:avLst/>
          </a:prstGeom>
          <a:noFill/>
          <a:ln/>
        </p:spPr>
        <p:txBody>
          <a:bodyPr wrap="square" lIns="0" tIns="0" rIns="0" bIns="0" rtlCol="0" anchor="t"/>
          <a:lstStyle/>
          <a:p>
            <a:pPr marL="0" indent="0" algn="ctr">
              <a:lnSpc>
                <a:spcPts val="2940"/>
              </a:lnSpc>
              <a:spcBef>
                <a:spcPts val="750"/>
              </a:spcBef>
              <a:buNone/>
            </a:pPr>
            <a:r>
              <a:rPr lang="en-US" sz="2100" b="1" dirty="0">
                <a:solidFill>
                  <a:schemeClr val="bg1">
                    <a:lumMod val="95000"/>
                  </a:schemeClr>
                </a:solidFill>
                <a:latin typeface="Arial" pitchFamily="34" charset="0"/>
                <a:ea typeface="Arial" pitchFamily="34" charset="-122"/>
                <a:cs typeface="Arial" pitchFamily="34" charset="-120"/>
              </a:rPr>
              <a:t>Classification automatique des races de chiens</a:t>
            </a:r>
            <a:endParaRPr lang="en-US" sz="2100" dirty="0">
              <a:solidFill>
                <a:schemeClr val="bg1">
                  <a:lumMod val="95000"/>
                </a:schemeClr>
              </a:solidFill>
            </a:endParaRPr>
          </a:p>
        </p:txBody>
      </p:sp>
      <p:sp>
        <p:nvSpPr>
          <p:cNvPr id="5" name="Text 3"/>
          <p:cNvSpPr/>
          <p:nvPr/>
        </p:nvSpPr>
        <p:spPr>
          <a:xfrm>
            <a:off x="3979946" y="2482302"/>
            <a:ext cx="2819620" cy="239911"/>
          </a:xfrm>
          <a:prstGeom prst="rect">
            <a:avLst/>
          </a:prstGeom>
          <a:noFill/>
          <a:ln/>
        </p:spPr>
        <p:txBody>
          <a:bodyPr wrap="square" lIns="0" tIns="0" rIns="0" bIns="0" rtlCol="0" anchor="t"/>
          <a:lstStyle/>
          <a:p>
            <a:pPr marL="0" indent="0" algn="ctr">
              <a:lnSpc>
                <a:spcPts val="1890"/>
              </a:lnSpc>
              <a:spcBef>
                <a:spcPts val="2250"/>
              </a:spcBef>
              <a:buNone/>
            </a:pPr>
            <a:r>
              <a:rPr lang="en-US" sz="1350" dirty="0">
                <a:solidFill>
                  <a:srgbClr val="FFFFFF">
                    <a:alpha val="80000"/>
                  </a:srgbClr>
                </a:solidFill>
                <a:latin typeface="Arial" pitchFamily="34" charset="0"/>
                <a:ea typeface="Arial" pitchFamily="34" charset="-122"/>
                <a:cs typeface="Arial" pitchFamily="34" charset="-120"/>
              </a:rPr>
              <a:t>Guide de déploiement en production</a:t>
            </a:r>
            <a:endParaRPr lang="en-US" sz="1350" dirty="0"/>
          </a:p>
        </p:txBody>
      </p:sp>
      <p:sp>
        <p:nvSpPr>
          <p:cNvPr id="6" name="Text 4"/>
          <p:cNvSpPr/>
          <p:nvPr/>
        </p:nvSpPr>
        <p:spPr>
          <a:xfrm>
            <a:off x="7003446" y="4847070"/>
            <a:ext cx="2021128" cy="186630"/>
          </a:xfrm>
          <a:prstGeom prst="rect">
            <a:avLst/>
          </a:prstGeom>
          <a:noFill/>
          <a:ln/>
        </p:spPr>
        <p:txBody>
          <a:bodyPr wrap="square" lIns="0" tIns="0" rIns="0" bIns="0" rtlCol="0" anchor="t"/>
          <a:lstStyle/>
          <a:p>
            <a:pPr marL="0" indent="0" algn="ctr">
              <a:lnSpc>
                <a:spcPts val="1470"/>
              </a:lnSpc>
              <a:spcBef>
                <a:spcPts val="3000"/>
              </a:spcBef>
              <a:buNone/>
            </a:pPr>
            <a:r>
              <a:rPr lang="en-US" sz="1050" dirty="0">
                <a:solidFill>
                  <a:srgbClr val="FFFFFF">
                    <a:alpha val="60000"/>
                  </a:srgbClr>
                </a:solidFill>
                <a:latin typeface="Arial" pitchFamily="34" charset="0"/>
                <a:ea typeface="Arial" pitchFamily="34" charset="-122"/>
                <a:cs typeface="Arial" pitchFamily="34" charset="-120"/>
              </a:rPr>
              <a:t>Ludivine Goldstein • Janvier 2026</a:t>
            </a:r>
            <a:endParaRPr lang="en-US" sz="1050" dirty="0"/>
          </a:p>
        </p:txBody>
      </p:sp>
      <p:pic>
        <p:nvPicPr>
          <p:cNvPr id="9" name="Image 8">
            <a:extLst>
              <a:ext uri="{FF2B5EF4-FFF2-40B4-BE49-F238E27FC236}">
                <a16:creationId xmlns:a16="http://schemas.microsoft.com/office/drawing/2014/main" id="{6DD3A0D7-54C0-F6B3-C78C-1F17FA544092}"/>
              </a:ext>
            </a:extLst>
          </p:cNvPr>
          <p:cNvPicPr>
            <a:picLocks noChangeAspect="1"/>
          </p:cNvPicPr>
          <p:nvPr/>
        </p:nvPicPr>
        <p:blipFill>
          <a:blip r:embed="rId3"/>
          <a:srcRect r="3402"/>
          <a:stretch>
            <a:fillRect/>
          </a:stretch>
        </p:blipFill>
        <p:spPr>
          <a:xfrm>
            <a:off x="426630" y="1949497"/>
            <a:ext cx="1613211" cy="19730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7ED"/>
        </a:solidFill>
        <a:effectLst/>
      </p:bgPr>
    </p:bg>
    <p:spTree>
      <p:nvGrpSpPr>
        <p:cNvPr id="1" name=""/>
        <p:cNvGrpSpPr/>
        <p:nvPr/>
      </p:nvGrpSpPr>
      <p:grpSpPr>
        <a:xfrm>
          <a:off x="0" y="0"/>
          <a:ext cx="0" cy="0"/>
          <a:chOff x="0" y="0"/>
          <a:chExt cx="0" cy="0"/>
        </a:xfrm>
      </p:grpSpPr>
      <p:sp>
        <p:nvSpPr>
          <p:cNvPr id="2" name="Shape 0"/>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latin typeface="Georgia" panose="02040502050405020303" pitchFamily="18" charset="0"/>
            </a:endParaRPr>
          </a:p>
        </p:txBody>
      </p:sp>
      <p:sp>
        <p:nvSpPr>
          <p:cNvPr id="3" name="Text 1"/>
          <p:cNvSpPr/>
          <p:nvPr/>
        </p:nvSpPr>
        <p:spPr>
          <a:xfrm>
            <a:off x="400050" y="228600"/>
            <a:ext cx="4371975" cy="342900"/>
          </a:xfrm>
          <a:prstGeom prst="rect">
            <a:avLst/>
          </a:prstGeom>
          <a:noFill/>
          <a:ln/>
        </p:spPr>
        <p:txBody>
          <a:bodyPr wrap="square" lIns="0" tIns="0" rIns="0" bIns="0" rtlCol="0" anchor="t"/>
          <a:lstStyle/>
          <a:p>
            <a:pPr marL="0" indent="0" algn="l">
              <a:lnSpc>
                <a:spcPts val="2700"/>
              </a:lnSpc>
              <a:buNone/>
            </a:pPr>
            <a:r>
              <a:rPr lang="en-US" sz="2700" b="1" dirty="0">
                <a:solidFill>
                  <a:srgbClr val="1E3A5F"/>
                </a:solidFill>
                <a:latin typeface="Georgia" panose="02040502050405020303" pitchFamily="18" charset="0"/>
                <a:ea typeface="Georgia" pitchFamily="34" charset="-122"/>
                <a:cs typeface="Georgia" pitchFamily="34" charset="-120"/>
              </a:rPr>
              <a:t>Le Problème</a:t>
            </a:r>
            <a:endParaRPr lang="en-US" sz="2700" dirty="0">
              <a:latin typeface="Georgia" panose="02040502050405020303" pitchFamily="18" charset="0"/>
            </a:endParaRPr>
          </a:p>
        </p:txBody>
      </p:sp>
      <p:sp>
        <p:nvSpPr>
          <p:cNvPr id="4" name="Text 2"/>
          <p:cNvSpPr/>
          <p:nvPr/>
        </p:nvSpPr>
        <p:spPr>
          <a:xfrm>
            <a:off x="304800" y="1174596"/>
            <a:ext cx="3710880" cy="1207120"/>
          </a:xfrm>
          <a:prstGeom prst="roundRect">
            <a:avLst>
              <a:gd name="adj" fmla="val 10658"/>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5" name="Text 3"/>
          <p:cNvSpPr/>
          <p:nvPr/>
        </p:nvSpPr>
        <p:spPr>
          <a:xfrm>
            <a:off x="571500" y="1499760"/>
            <a:ext cx="3318754" cy="186630"/>
          </a:xfrm>
          <a:prstGeom prst="rect">
            <a:avLst/>
          </a:prstGeom>
          <a:noFill/>
          <a:ln/>
        </p:spPr>
        <p:txBody>
          <a:bodyPr wrap="square" lIns="0" tIns="0" rIns="0" bIns="0" rtlCol="0" anchor="t"/>
          <a:lstStyle/>
          <a:p>
            <a:pPr marL="0" indent="0" algn="l">
              <a:lnSpc>
                <a:spcPts val="1470"/>
              </a:lnSpc>
              <a:spcAft>
                <a:spcPts val="600"/>
              </a:spcAft>
              <a:buNone/>
            </a:pPr>
            <a:r>
              <a:rPr lang="en-US" sz="1050" b="1" dirty="0">
                <a:solidFill>
                  <a:srgbClr val="D97706"/>
                </a:solidFill>
                <a:latin typeface="Georgia" panose="02040502050405020303" pitchFamily="18" charset="0"/>
                <a:ea typeface="Arial" pitchFamily="34" charset="-122"/>
                <a:cs typeface="Arial" pitchFamily="34" charset="-120"/>
              </a:rPr>
              <a:t> </a:t>
            </a:r>
            <a:r>
              <a:rPr lang="en-US" sz="1050" b="1" dirty="0">
                <a:solidFill>
                  <a:schemeClr val="tx1">
                    <a:lumMod val="65000"/>
                    <a:lumOff val="35000"/>
                  </a:schemeClr>
                </a:solidFill>
                <a:latin typeface="Georgia" panose="02040502050405020303" pitchFamily="18" charset="0"/>
                <a:ea typeface="Arial" pitchFamily="34" charset="-122"/>
                <a:cs typeface="Arial" pitchFamily="34" charset="-120"/>
              </a:rPr>
              <a:t>LA SITUATION ACTUELLE</a:t>
            </a:r>
            <a:endParaRPr lang="en-US" sz="1050" dirty="0">
              <a:solidFill>
                <a:schemeClr val="tx1">
                  <a:lumMod val="65000"/>
                  <a:lumOff val="35000"/>
                </a:schemeClr>
              </a:solidFill>
              <a:latin typeface="Georgia" panose="02040502050405020303" pitchFamily="18" charset="0"/>
            </a:endParaRPr>
          </a:p>
        </p:txBody>
      </p:sp>
      <p:sp>
        <p:nvSpPr>
          <p:cNvPr id="6" name="Text 4"/>
          <p:cNvSpPr/>
          <p:nvPr/>
        </p:nvSpPr>
        <p:spPr>
          <a:xfrm>
            <a:off x="571500" y="1762590"/>
            <a:ext cx="3318754" cy="428625"/>
          </a:xfrm>
          <a:prstGeom prst="rect">
            <a:avLst/>
          </a:prstGeom>
          <a:noFill/>
          <a:ln/>
        </p:spPr>
        <p:txBody>
          <a:bodyPr wrap="square" lIns="0" tIns="0" rIns="0" bIns="0" rtlCol="0" anchor="t"/>
          <a:lstStyle/>
          <a:p>
            <a:pPr marL="0" indent="0" algn="l">
              <a:lnSpc>
                <a:spcPts val="1688"/>
              </a:lnSpc>
              <a:buNone/>
            </a:pPr>
            <a:r>
              <a:rPr lang="en-US" sz="1125" dirty="0">
                <a:solidFill>
                  <a:srgbClr val="1C1917"/>
                </a:solidFill>
                <a:latin typeface="Georgia" panose="02040502050405020303" pitchFamily="18" charset="0"/>
                <a:ea typeface="Arial" pitchFamily="34" charset="-122"/>
                <a:cs typeface="Arial" pitchFamily="34" charset="-120"/>
              </a:rPr>
              <a:t>Des milliers d'images de pensionnaires non référencées sur les disques durs</a:t>
            </a:r>
            <a:endParaRPr lang="en-US" sz="1125" dirty="0">
              <a:latin typeface="Georgia" panose="02040502050405020303" pitchFamily="18" charset="0"/>
            </a:endParaRPr>
          </a:p>
        </p:txBody>
      </p:sp>
      <p:sp>
        <p:nvSpPr>
          <p:cNvPr id="7" name="Text 5"/>
          <p:cNvSpPr/>
          <p:nvPr/>
        </p:nvSpPr>
        <p:spPr>
          <a:xfrm>
            <a:off x="381000" y="3009900"/>
            <a:ext cx="3634680" cy="1072455"/>
          </a:xfrm>
          <a:prstGeom prst="roundRect">
            <a:avLst>
              <a:gd name="adj" fmla="val 10658"/>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8" name="Text 6"/>
          <p:cNvSpPr/>
          <p:nvPr/>
        </p:nvSpPr>
        <p:spPr>
          <a:xfrm>
            <a:off x="571500" y="3200400"/>
            <a:ext cx="3318754" cy="186630"/>
          </a:xfrm>
          <a:prstGeom prst="rect">
            <a:avLst/>
          </a:prstGeom>
          <a:noFill/>
          <a:ln/>
        </p:spPr>
        <p:txBody>
          <a:bodyPr wrap="square" lIns="0" tIns="0" rIns="0" bIns="0" rtlCol="0" anchor="t"/>
          <a:lstStyle/>
          <a:p>
            <a:pPr marL="0" indent="0" algn="l">
              <a:lnSpc>
                <a:spcPts val="1470"/>
              </a:lnSpc>
              <a:spcAft>
                <a:spcPts val="600"/>
              </a:spcAft>
              <a:buNone/>
            </a:pPr>
            <a:r>
              <a:rPr lang="en-US" sz="1050" b="1" dirty="0">
                <a:solidFill>
                  <a:schemeClr val="tx1">
                    <a:lumMod val="65000"/>
                    <a:lumOff val="35000"/>
                  </a:schemeClr>
                </a:solidFill>
                <a:latin typeface="Georgia" panose="02040502050405020303" pitchFamily="18" charset="0"/>
                <a:ea typeface="Arial" pitchFamily="34" charset="-122"/>
                <a:cs typeface="Arial" pitchFamily="34" charset="-120"/>
              </a:rPr>
              <a:t>PROBLEMATIQUE</a:t>
            </a:r>
            <a:endParaRPr lang="en-US" sz="1050" dirty="0">
              <a:solidFill>
                <a:schemeClr val="tx1">
                  <a:lumMod val="65000"/>
                  <a:lumOff val="35000"/>
                </a:schemeClr>
              </a:solidFill>
              <a:latin typeface="Georgia" panose="02040502050405020303" pitchFamily="18" charset="0"/>
            </a:endParaRPr>
          </a:p>
        </p:txBody>
      </p:sp>
      <p:sp>
        <p:nvSpPr>
          <p:cNvPr id="9" name="Text 7"/>
          <p:cNvSpPr/>
          <p:nvPr/>
        </p:nvSpPr>
        <p:spPr>
          <a:xfrm>
            <a:off x="571500" y="3463230"/>
            <a:ext cx="3318754" cy="428625"/>
          </a:xfrm>
          <a:prstGeom prst="rect">
            <a:avLst/>
          </a:prstGeom>
          <a:noFill/>
          <a:ln/>
        </p:spPr>
        <p:txBody>
          <a:bodyPr wrap="square" lIns="0" tIns="0" rIns="0" bIns="0" rtlCol="0" anchor="t"/>
          <a:lstStyle/>
          <a:p>
            <a:pPr marL="0" indent="0" algn="l">
              <a:lnSpc>
                <a:spcPts val="1688"/>
              </a:lnSpc>
              <a:buNone/>
            </a:pPr>
            <a:r>
              <a:rPr lang="en-US" sz="1125" dirty="0">
                <a:solidFill>
                  <a:srgbClr val="1C1917"/>
                </a:solidFill>
                <a:latin typeface="Georgia" panose="02040502050405020303" pitchFamily="18" charset="0"/>
                <a:ea typeface="Arial" pitchFamily="34" charset="-122"/>
                <a:cs typeface="Arial" pitchFamily="34" charset="-120"/>
              </a:rPr>
              <a:t>Les bénévoles manquent de temps pour classifier manuellement chaque photo</a:t>
            </a:r>
            <a:endParaRPr lang="en-US" sz="1125" dirty="0">
              <a:latin typeface="Georgia" panose="02040502050405020303" pitchFamily="18" charset="0"/>
            </a:endParaRPr>
          </a:p>
        </p:txBody>
      </p:sp>
      <p:sp>
        <p:nvSpPr>
          <p:cNvPr id="10" name="Text 8"/>
          <p:cNvSpPr/>
          <p:nvPr/>
        </p:nvSpPr>
        <p:spPr>
          <a:xfrm>
            <a:off x="4282380" y="1661097"/>
            <a:ext cx="4442520" cy="1185688"/>
          </a:xfrm>
          <a:prstGeom prst="roundRect">
            <a:avLst>
              <a:gd name="adj" fmla="val 8982"/>
            </a:avLst>
          </a:prstGeom>
          <a:solidFill>
            <a:schemeClr val="accent1">
              <a:lumMod val="50000"/>
            </a:schemeClr>
          </a:solidFill>
          <a:ln/>
        </p:spPr>
        <p:txBody>
          <a:bodyPr wrap="square" rtlCol="0" anchor="ctr"/>
          <a:lstStyle/>
          <a:p>
            <a:pPr marL="0" indent="0">
              <a:buNone/>
            </a:pPr>
            <a:endParaRPr lang="en-US" dirty="0">
              <a:latin typeface="Georgia" panose="02040502050405020303" pitchFamily="18" charset="0"/>
            </a:endParaRPr>
          </a:p>
        </p:txBody>
      </p:sp>
      <p:sp>
        <p:nvSpPr>
          <p:cNvPr id="11" name="Text 9"/>
          <p:cNvSpPr/>
          <p:nvPr/>
        </p:nvSpPr>
        <p:spPr>
          <a:xfrm>
            <a:off x="4549080" y="1927473"/>
            <a:ext cx="4065026" cy="186630"/>
          </a:xfrm>
          <a:prstGeom prst="rect">
            <a:avLst/>
          </a:prstGeom>
          <a:noFill/>
          <a:ln/>
        </p:spPr>
        <p:txBody>
          <a:bodyPr wrap="square" lIns="0" tIns="0" rIns="0" bIns="0" rtlCol="0" anchor="t"/>
          <a:lstStyle/>
          <a:p>
            <a:pPr marL="0" indent="0" algn="l">
              <a:lnSpc>
                <a:spcPts val="1470"/>
              </a:lnSpc>
              <a:spcAft>
                <a:spcPts val="900"/>
              </a:spcAft>
              <a:buNone/>
            </a:pPr>
            <a:r>
              <a:rPr lang="en-US" sz="1050" b="1" dirty="0">
                <a:solidFill>
                  <a:schemeClr val="bg2"/>
                </a:solidFill>
                <a:latin typeface="Georgia" panose="02040502050405020303" pitchFamily="18" charset="0"/>
                <a:ea typeface="Arial" pitchFamily="34" charset="-122"/>
                <a:cs typeface="Arial" pitchFamily="34" charset="-120"/>
              </a:rPr>
              <a:t>SOLUTION PROPOSÉE</a:t>
            </a:r>
            <a:endParaRPr lang="en-US" sz="1050" dirty="0">
              <a:solidFill>
                <a:schemeClr val="bg2"/>
              </a:solidFill>
              <a:latin typeface="Georgia" panose="02040502050405020303" pitchFamily="18" charset="0"/>
            </a:endParaRPr>
          </a:p>
        </p:txBody>
      </p:sp>
      <p:sp>
        <p:nvSpPr>
          <p:cNvPr id="12" name="Text 10"/>
          <p:cNvSpPr/>
          <p:nvPr/>
        </p:nvSpPr>
        <p:spPr>
          <a:xfrm>
            <a:off x="4549080" y="2232968"/>
            <a:ext cx="4065026" cy="514350"/>
          </a:xfrm>
          <a:prstGeom prst="rect">
            <a:avLst/>
          </a:prstGeom>
          <a:noFill/>
          <a:ln/>
        </p:spPr>
        <p:txBody>
          <a:bodyPr wrap="square" lIns="0" tIns="0" rIns="0" bIns="0" rtlCol="0" anchor="t"/>
          <a:lstStyle/>
          <a:p>
            <a:pPr marL="0" indent="0" algn="l">
              <a:lnSpc>
                <a:spcPts val="2025"/>
              </a:lnSpc>
              <a:buNone/>
            </a:pPr>
            <a:r>
              <a:rPr lang="en-US" sz="1350" dirty="0">
                <a:solidFill>
                  <a:srgbClr val="FFFFFF"/>
                </a:solidFill>
                <a:latin typeface="Georgia" panose="02040502050405020303" pitchFamily="18" charset="0"/>
                <a:ea typeface="Arial" pitchFamily="34" charset="-122"/>
                <a:cs typeface="Arial" pitchFamily="34" charset="-120"/>
              </a:rPr>
              <a:t>Un algorithme d'IA capable de reconnaître automatiquement la race d'un chien sur une photo</a:t>
            </a:r>
            <a:endParaRPr lang="en-US" sz="1350" dirty="0">
              <a:latin typeface="Georgia" panose="02040502050405020303" pitchFamily="18" charset="0"/>
            </a:endParaRPr>
          </a:p>
        </p:txBody>
      </p:sp>
      <p:sp>
        <p:nvSpPr>
          <p:cNvPr id="13" name="Text 11"/>
          <p:cNvSpPr/>
          <p:nvPr/>
        </p:nvSpPr>
        <p:spPr>
          <a:xfrm>
            <a:off x="4320480" y="3559039"/>
            <a:ext cx="4442520" cy="858143"/>
          </a:xfrm>
          <a:prstGeom prst="roundRect">
            <a:avLst>
              <a:gd name="adj" fmla="val 13319"/>
            </a:avLst>
          </a:prstGeom>
          <a:solidFill>
            <a:srgbClr val="059669"/>
          </a:solidFill>
          <a:ln/>
        </p:spPr>
        <p:txBody>
          <a:bodyPr wrap="square" rtlCol="0" anchor="ctr"/>
          <a:lstStyle/>
          <a:p>
            <a:pPr marL="0" indent="0">
              <a:buNone/>
            </a:pPr>
            <a:endParaRPr lang="en-US" dirty="0">
              <a:latin typeface="Georgia" panose="02040502050405020303" pitchFamily="18" charset="0"/>
            </a:endParaRPr>
          </a:p>
        </p:txBody>
      </p:sp>
      <p:sp>
        <p:nvSpPr>
          <p:cNvPr id="14" name="Text 12"/>
          <p:cNvSpPr/>
          <p:nvPr/>
        </p:nvSpPr>
        <p:spPr>
          <a:xfrm>
            <a:off x="4510980" y="3645403"/>
            <a:ext cx="4142750" cy="186630"/>
          </a:xfrm>
          <a:prstGeom prst="rect">
            <a:avLst/>
          </a:prstGeom>
          <a:noFill/>
          <a:ln/>
        </p:spPr>
        <p:txBody>
          <a:bodyPr wrap="square" lIns="0" tIns="0" rIns="0" bIns="0" rtlCol="0" anchor="t"/>
          <a:lstStyle/>
          <a:p>
            <a:pPr marL="0" indent="0" algn="l">
              <a:lnSpc>
                <a:spcPts val="1470"/>
              </a:lnSpc>
              <a:spcAft>
                <a:spcPts val="600"/>
              </a:spcAft>
              <a:buNone/>
            </a:pPr>
            <a:r>
              <a:rPr lang="en-US" sz="1050" b="1" dirty="0">
                <a:solidFill>
                  <a:srgbClr val="FFFFFF"/>
                </a:solidFill>
                <a:latin typeface="Georgia" panose="02040502050405020303" pitchFamily="18" charset="0"/>
                <a:ea typeface="Arial" pitchFamily="34" charset="-122"/>
                <a:cs typeface="Arial" pitchFamily="34" charset="-120"/>
              </a:rPr>
              <a:t> OBJECTIF</a:t>
            </a:r>
            <a:endParaRPr lang="en-US" sz="1050" dirty="0">
              <a:latin typeface="Georgia" panose="02040502050405020303" pitchFamily="18" charset="0"/>
            </a:endParaRPr>
          </a:p>
        </p:txBody>
      </p:sp>
      <p:sp>
        <p:nvSpPr>
          <p:cNvPr id="15" name="Text 13"/>
          <p:cNvSpPr/>
          <p:nvPr/>
        </p:nvSpPr>
        <p:spPr>
          <a:xfrm>
            <a:off x="4549080" y="3918397"/>
            <a:ext cx="4142750" cy="214313"/>
          </a:xfrm>
          <a:prstGeom prst="rect">
            <a:avLst/>
          </a:prstGeom>
          <a:noFill/>
          <a:ln/>
        </p:spPr>
        <p:txBody>
          <a:bodyPr wrap="square" lIns="0" tIns="0" rIns="0" bIns="0" rtlCol="0" anchor="t"/>
          <a:lstStyle/>
          <a:p>
            <a:pPr marL="0" indent="0" algn="l">
              <a:lnSpc>
                <a:spcPts val="1688"/>
              </a:lnSpc>
              <a:buNone/>
            </a:pPr>
            <a:r>
              <a:rPr lang="en-US" sz="1350" dirty="0">
                <a:solidFill>
                  <a:srgbClr val="FFFFFF"/>
                </a:solidFill>
                <a:latin typeface="Georgia" panose="02040502050405020303" pitchFamily="18" charset="0"/>
                <a:ea typeface="Arial" pitchFamily="34" charset="-122"/>
                <a:cs typeface="Arial" pitchFamily="34" charset="-120"/>
              </a:rPr>
              <a:t>Accélérer l'indexation de la base de données des pensionnaires</a:t>
            </a:r>
            <a:endParaRPr lang="en-US" sz="1350" dirty="0">
              <a:latin typeface="Georgia" panose="020405020504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7ED"/>
        </a:solidFill>
        <a:effectLst/>
      </p:bgPr>
    </p:bg>
    <p:spTree>
      <p:nvGrpSpPr>
        <p:cNvPr id="1" name="">
          <a:extLst>
            <a:ext uri="{FF2B5EF4-FFF2-40B4-BE49-F238E27FC236}">
              <a16:creationId xmlns:a16="http://schemas.microsoft.com/office/drawing/2014/main" id="{E2AC6F9F-C467-A27F-56E3-4C314EAED7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865A1D-6DC9-C47B-B2BC-7017B508483D}"/>
              </a:ext>
            </a:extLst>
          </p:cNvPr>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latin typeface="Georgia" panose="02040502050405020303" pitchFamily="18" charset="0"/>
            </a:endParaRPr>
          </a:p>
        </p:txBody>
      </p:sp>
      <p:sp>
        <p:nvSpPr>
          <p:cNvPr id="3" name="Text 1">
            <a:extLst>
              <a:ext uri="{FF2B5EF4-FFF2-40B4-BE49-F238E27FC236}">
                <a16:creationId xmlns:a16="http://schemas.microsoft.com/office/drawing/2014/main" id="{84A53B55-6C52-3FBB-7CD2-E8257FBD16DA}"/>
              </a:ext>
            </a:extLst>
          </p:cNvPr>
          <p:cNvSpPr/>
          <p:nvPr/>
        </p:nvSpPr>
        <p:spPr>
          <a:xfrm>
            <a:off x="400050" y="228600"/>
            <a:ext cx="4371975" cy="342900"/>
          </a:xfrm>
          <a:prstGeom prst="rect">
            <a:avLst/>
          </a:prstGeom>
          <a:noFill/>
          <a:ln/>
        </p:spPr>
        <p:txBody>
          <a:bodyPr wrap="square" lIns="0" tIns="0" rIns="0" bIns="0" rtlCol="0" anchor="t"/>
          <a:lstStyle/>
          <a:p>
            <a:pPr marL="0" indent="0" algn="l">
              <a:lnSpc>
                <a:spcPts val="2700"/>
              </a:lnSpc>
              <a:buNone/>
            </a:pPr>
            <a:r>
              <a:rPr lang="en-US" sz="2700" b="1" dirty="0">
                <a:solidFill>
                  <a:srgbClr val="1E3A5F"/>
                </a:solidFill>
                <a:latin typeface="Georgia" panose="02040502050405020303" pitchFamily="18" charset="0"/>
                <a:ea typeface="Georgia" pitchFamily="34" charset="-122"/>
                <a:cs typeface="Georgia" pitchFamily="34" charset="-120"/>
              </a:rPr>
              <a:t>Approches Testées</a:t>
            </a:r>
            <a:endParaRPr lang="en-US" sz="2700" dirty="0">
              <a:latin typeface="Georgia" panose="02040502050405020303" pitchFamily="18" charset="0"/>
            </a:endParaRPr>
          </a:p>
        </p:txBody>
      </p:sp>
      <p:sp>
        <p:nvSpPr>
          <p:cNvPr id="4" name="Text 2">
            <a:extLst>
              <a:ext uri="{FF2B5EF4-FFF2-40B4-BE49-F238E27FC236}">
                <a16:creationId xmlns:a16="http://schemas.microsoft.com/office/drawing/2014/main" id="{000875B0-2C22-03D0-92D2-E1D4079FC038}"/>
              </a:ext>
            </a:extLst>
          </p:cNvPr>
          <p:cNvSpPr/>
          <p:nvPr/>
        </p:nvSpPr>
        <p:spPr>
          <a:xfrm>
            <a:off x="285750" y="1383953"/>
            <a:ext cx="2654350" cy="3099346"/>
          </a:xfrm>
          <a:prstGeom prst="roundRect">
            <a:avLst>
              <a:gd name="adj" fmla="val 4306"/>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5" name="Text 3">
            <a:extLst>
              <a:ext uri="{FF2B5EF4-FFF2-40B4-BE49-F238E27FC236}">
                <a16:creationId xmlns:a16="http://schemas.microsoft.com/office/drawing/2014/main" id="{BFE33697-44C8-839E-B18B-F87D9558CC1A}"/>
              </a:ext>
            </a:extLst>
          </p:cNvPr>
          <p:cNvSpPr/>
          <p:nvPr/>
        </p:nvSpPr>
        <p:spPr>
          <a:xfrm>
            <a:off x="476250" y="1574453"/>
            <a:ext cx="1048048" cy="312390"/>
          </a:xfrm>
          <a:prstGeom prst="roundRect">
            <a:avLst>
              <a:gd name="adj" fmla="val 60981"/>
            </a:avLst>
          </a:prstGeom>
          <a:solidFill>
            <a:srgbClr val="3498DB"/>
          </a:solidFill>
          <a:ln/>
        </p:spPr>
        <p:txBody>
          <a:bodyPr wrap="square" rtlCol="0" anchor="ctr"/>
          <a:lstStyle/>
          <a:p>
            <a:pPr marL="0" indent="0">
              <a:buNone/>
            </a:pPr>
            <a:endParaRPr lang="en-US" dirty="0">
              <a:latin typeface="Georgia" panose="02040502050405020303" pitchFamily="18" charset="0"/>
            </a:endParaRPr>
          </a:p>
        </p:txBody>
      </p:sp>
      <p:sp>
        <p:nvSpPr>
          <p:cNvPr id="6" name="Text 4">
            <a:extLst>
              <a:ext uri="{FF2B5EF4-FFF2-40B4-BE49-F238E27FC236}">
                <a16:creationId xmlns:a16="http://schemas.microsoft.com/office/drawing/2014/main" id="{2BCBAF64-2D29-138F-D0B4-A2315F584668}"/>
              </a:ext>
            </a:extLst>
          </p:cNvPr>
          <p:cNvSpPr/>
          <p:nvPr/>
        </p:nvSpPr>
        <p:spPr>
          <a:xfrm>
            <a:off x="628650" y="1650653"/>
            <a:ext cx="895648"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Georgia" panose="02040502050405020303" pitchFamily="18" charset="0"/>
                <a:ea typeface="Arial" pitchFamily="34" charset="-122"/>
                <a:cs typeface="Arial" pitchFamily="34" charset="-120"/>
              </a:rPr>
              <a:t>APPROCHE 1 </a:t>
            </a:r>
            <a:endParaRPr lang="en-US" sz="900" dirty="0">
              <a:latin typeface="Georgia" panose="02040502050405020303" pitchFamily="18" charset="0"/>
            </a:endParaRPr>
          </a:p>
        </p:txBody>
      </p:sp>
      <p:sp>
        <p:nvSpPr>
          <p:cNvPr id="7" name="Text 5">
            <a:extLst>
              <a:ext uri="{FF2B5EF4-FFF2-40B4-BE49-F238E27FC236}">
                <a16:creationId xmlns:a16="http://schemas.microsoft.com/office/drawing/2014/main" id="{AC5AC3C4-4048-50FB-4CD8-04DB43905620}"/>
              </a:ext>
            </a:extLst>
          </p:cNvPr>
          <p:cNvSpPr/>
          <p:nvPr/>
        </p:nvSpPr>
        <p:spPr>
          <a:xfrm>
            <a:off x="476250" y="2191643"/>
            <a:ext cx="2318817" cy="266700"/>
          </a:xfrm>
          <a:prstGeom prst="rect">
            <a:avLst/>
          </a:prstGeom>
          <a:noFill/>
          <a:ln/>
        </p:spPr>
        <p:txBody>
          <a:bodyPr wrap="square" lIns="0" tIns="0" rIns="0" bIns="0" rtlCol="0" anchor="t"/>
          <a:lstStyle/>
          <a:p>
            <a:pPr marL="0" indent="0" algn="l">
              <a:lnSpc>
                <a:spcPts val="2100"/>
              </a:lnSpc>
              <a:spcBef>
                <a:spcPts val="1200"/>
              </a:spcBef>
              <a:spcAft>
                <a:spcPts val="600"/>
              </a:spcAft>
              <a:buNone/>
            </a:pPr>
            <a:r>
              <a:rPr lang="en-US" sz="1500" b="1" dirty="0">
                <a:solidFill>
                  <a:srgbClr val="1E3A5F"/>
                </a:solidFill>
                <a:latin typeface="Georgia" panose="02040502050405020303" pitchFamily="18" charset="0"/>
                <a:ea typeface="Arial" pitchFamily="34" charset="-122"/>
                <a:cs typeface="Arial" pitchFamily="34" charset="-120"/>
              </a:rPr>
              <a:t>CNN Simple</a:t>
            </a:r>
            <a:endParaRPr lang="en-US" sz="1500" dirty="0">
              <a:latin typeface="Georgia" panose="02040502050405020303" pitchFamily="18" charset="0"/>
            </a:endParaRPr>
          </a:p>
        </p:txBody>
      </p:sp>
      <p:sp>
        <p:nvSpPr>
          <p:cNvPr id="8" name="Text 6">
            <a:extLst>
              <a:ext uri="{FF2B5EF4-FFF2-40B4-BE49-F238E27FC236}">
                <a16:creationId xmlns:a16="http://schemas.microsoft.com/office/drawing/2014/main" id="{C69379C8-F3FF-6FCF-5A50-5828A5857D56}"/>
              </a:ext>
            </a:extLst>
          </p:cNvPr>
          <p:cNvSpPr/>
          <p:nvPr/>
        </p:nvSpPr>
        <p:spPr>
          <a:xfrm>
            <a:off x="476250" y="2686943"/>
            <a:ext cx="2318817" cy="371475"/>
          </a:xfrm>
          <a:prstGeom prst="rect">
            <a:avLst/>
          </a:prstGeom>
          <a:noFill/>
          <a:ln/>
        </p:spPr>
        <p:txBody>
          <a:bodyPr wrap="square" lIns="0" tIns="0" rIns="0" bIns="0" rtlCol="0" anchor="t"/>
          <a:lstStyle/>
          <a:p>
            <a:pPr marL="0" indent="0" algn="l">
              <a:lnSpc>
                <a:spcPts val="1463"/>
              </a:lnSpc>
              <a:spcAft>
                <a:spcPts val="1200"/>
              </a:spcAft>
              <a:buNone/>
            </a:pPr>
            <a:r>
              <a:rPr lang="en-US" sz="975" dirty="0">
                <a:solidFill>
                  <a:srgbClr val="78716C"/>
                </a:solidFill>
                <a:latin typeface="Georgia" panose="02040502050405020303" pitchFamily="18" charset="0"/>
                <a:ea typeface="Arial" pitchFamily="34" charset="-122"/>
                <a:cs typeface="Arial" pitchFamily="34" charset="-120"/>
              </a:rPr>
              <a:t>Réseau de neurones convolutif créé à partir de zero </a:t>
            </a:r>
          </a:p>
        </p:txBody>
      </p:sp>
      <p:sp>
        <p:nvSpPr>
          <p:cNvPr id="9" name="Text 7">
            <a:extLst>
              <a:ext uri="{FF2B5EF4-FFF2-40B4-BE49-F238E27FC236}">
                <a16:creationId xmlns:a16="http://schemas.microsoft.com/office/drawing/2014/main" id="{F888E128-3C45-60C1-55EB-E489B0BB5F44}"/>
              </a:ext>
            </a:extLst>
          </p:cNvPr>
          <p:cNvSpPr/>
          <p:nvPr/>
        </p:nvSpPr>
        <p:spPr>
          <a:xfrm>
            <a:off x="510667" y="3507202"/>
            <a:ext cx="2318817" cy="426690"/>
          </a:xfrm>
          <a:prstGeom prst="rect">
            <a:avLst/>
          </a:prstGeom>
          <a:noFill/>
          <a:ln/>
        </p:spPr>
        <p:txBody>
          <a:bodyPr wrap="square" lIns="0" tIns="0" rIns="0" bIns="0" rtlCol="0" anchor="t"/>
          <a:lstStyle/>
          <a:p>
            <a:pPr marL="0" indent="0" algn="ctr">
              <a:lnSpc>
                <a:spcPts val="3360"/>
              </a:lnSpc>
              <a:spcBef>
                <a:spcPts val="1200"/>
              </a:spcBef>
              <a:buNone/>
            </a:pPr>
            <a:r>
              <a:rPr lang="en-US" sz="2400" b="1" dirty="0">
                <a:solidFill>
                  <a:srgbClr val="1C1917"/>
                </a:solidFill>
                <a:latin typeface="Georgia" panose="02040502050405020303" pitchFamily="18" charset="0"/>
                <a:ea typeface="Arial" pitchFamily="34" charset="-122"/>
                <a:cs typeface="Arial" pitchFamily="34" charset="-120"/>
              </a:rPr>
              <a:t>53,33%</a:t>
            </a:r>
            <a:endParaRPr lang="en-US" sz="2400" dirty="0">
              <a:latin typeface="Georgia" panose="02040502050405020303" pitchFamily="18" charset="0"/>
            </a:endParaRPr>
          </a:p>
        </p:txBody>
      </p:sp>
      <p:sp>
        <p:nvSpPr>
          <p:cNvPr id="10" name="Text 8">
            <a:extLst>
              <a:ext uri="{FF2B5EF4-FFF2-40B4-BE49-F238E27FC236}">
                <a16:creationId xmlns:a16="http://schemas.microsoft.com/office/drawing/2014/main" id="{2488DE68-3ADC-6ACA-3DC6-DE19FC2D5235}"/>
              </a:ext>
            </a:extLst>
          </p:cNvPr>
          <p:cNvSpPr/>
          <p:nvPr/>
        </p:nvSpPr>
        <p:spPr>
          <a:xfrm>
            <a:off x="476250" y="4132808"/>
            <a:ext cx="2318817"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Accuracy</a:t>
            </a:r>
            <a:endParaRPr lang="en-US" sz="900" dirty="0">
              <a:latin typeface="Georgia" panose="02040502050405020303" pitchFamily="18" charset="0"/>
            </a:endParaRPr>
          </a:p>
        </p:txBody>
      </p:sp>
      <p:sp>
        <p:nvSpPr>
          <p:cNvPr id="11" name="Text 9">
            <a:extLst>
              <a:ext uri="{FF2B5EF4-FFF2-40B4-BE49-F238E27FC236}">
                <a16:creationId xmlns:a16="http://schemas.microsoft.com/office/drawing/2014/main" id="{8155406E-2E74-FCC1-BC79-BBE1DA3246E6}"/>
              </a:ext>
            </a:extLst>
          </p:cNvPr>
          <p:cNvSpPr/>
          <p:nvPr/>
        </p:nvSpPr>
        <p:spPr>
          <a:xfrm>
            <a:off x="3244900" y="1383953"/>
            <a:ext cx="2654350" cy="3099346"/>
          </a:xfrm>
          <a:prstGeom prst="roundRect">
            <a:avLst>
              <a:gd name="adj" fmla="val 4306"/>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2" name="Text 10">
            <a:extLst>
              <a:ext uri="{FF2B5EF4-FFF2-40B4-BE49-F238E27FC236}">
                <a16:creationId xmlns:a16="http://schemas.microsoft.com/office/drawing/2014/main" id="{42FDF35E-35E8-6344-0C99-8BA03918F0B6}"/>
              </a:ext>
            </a:extLst>
          </p:cNvPr>
          <p:cNvSpPr/>
          <p:nvPr/>
        </p:nvSpPr>
        <p:spPr>
          <a:xfrm>
            <a:off x="3435400" y="1574453"/>
            <a:ext cx="1048048" cy="312390"/>
          </a:xfrm>
          <a:prstGeom prst="roundRect">
            <a:avLst>
              <a:gd name="adj" fmla="val 60981"/>
            </a:avLst>
          </a:prstGeom>
          <a:solidFill>
            <a:srgbClr val="9B59B6"/>
          </a:solidFill>
          <a:ln/>
        </p:spPr>
        <p:txBody>
          <a:bodyPr wrap="square" rtlCol="0" anchor="ctr"/>
          <a:lstStyle/>
          <a:p>
            <a:pPr marL="0" indent="0">
              <a:buNone/>
            </a:pPr>
            <a:endParaRPr lang="en-US" dirty="0">
              <a:latin typeface="Georgia" panose="02040502050405020303" pitchFamily="18" charset="0"/>
            </a:endParaRPr>
          </a:p>
        </p:txBody>
      </p:sp>
      <p:sp>
        <p:nvSpPr>
          <p:cNvPr id="13" name="Text 11">
            <a:extLst>
              <a:ext uri="{FF2B5EF4-FFF2-40B4-BE49-F238E27FC236}">
                <a16:creationId xmlns:a16="http://schemas.microsoft.com/office/drawing/2014/main" id="{55E27B44-64D2-6A42-9A22-125A555F7327}"/>
              </a:ext>
            </a:extLst>
          </p:cNvPr>
          <p:cNvSpPr/>
          <p:nvPr/>
        </p:nvSpPr>
        <p:spPr>
          <a:xfrm>
            <a:off x="3587800" y="1650653"/>
            <a:ext cx="827789"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Georgia" panose="02040502050405020303" pitchFamily="18" charset="0"/>
                <a:ea typeface="Arial" pitchFamily="34" charset="-122"/>
                <a:cs typeface="Arial" pitchFamily="34" charset="-120"/>
              </a:rPr>
              <a:t>APPROCHE 2</a:t>
            </a:r>
            <a:endParaRPr lang="en-US" sz="900" dirty="0">
              <a:latin typeface="Georgia" panose="02040502050405020303" pitchFamily="18" charset="0"/>
            </a:endParaRPr>
          </a:p>
        </p:txBody>
      </p:sp>
      <p:sp>
        <p:nvSpPr>
          <p:cNvPr id="14" name="Text 12">
            <a:extLst>
              <a:ext uri="{FF2B5EF4-FFF2-40B4-BE49-F238E27FC236}">
                <a16:creationId xmlns:a16="http://schemas.microsoft.com/office/drawing/2014/main" id="{259382A8-9E42-668C-ED9A-1059FEBCA310}"/>
              </a:ext>
            </a:extLst>
          </p:cNvPr>
          <p:cNvSpPr/>
          <p:nvPr/>
        </p:nvSpPr>
        <p:spPr>
          <a:xfrm>
            <a:off x="3435400" y="2191643"/>
            <a:ext cx="2318817" cy="266700"/>
          </a:xfrm>
          <a:prstGeom prst="rect">
            <a:avLst/>
          </a:prstGeom>
          <a:noFill/>
          <a:ln/>
        </p:spPr>
        <p:txBody>
          <a:bodyPr wrap="square" lIns="0" tIns="0" rIns="0" bIns="0" rtlCol="0" anchor="t"/>
          <a:lstStyle/>
          <a:p>
            <a:pPr marL="0" indent="0" algn="l">
              <a:lnSpc>
                <a:spcPts val="2100"/>
              </a:lnSpc>
              <a:spcBef>
                <a:spcPts val="1200"/>
              </a:spcBef>
              <a:spcAft>
                <a:spcPts val="600"/>
              </a:spcAft>
              <a:buNone/>
            </a:pPr>
            <a:r>
              <a:rPr lang="en-US" sz="1500" b="1" dirty="0">
                <a:solidFill>
                  <a:srgbClr val="1E3A5F"/>
                </a:solidFill>
                <a:latin typeface="Georgia" panose="02040502050405020303" pitchFamily="18" charset="0"/>
                <a:ea typeface="Arial" pitchFamily="34" charset="-122"/>
                <a:cs typeface="Arial" pitchFamily="34" charset="-120"/>
              </a:rPr>
              <a:t>CNN + Dropout</a:t>
            </a:r>
            <a:endParaRPr lang="en-US" sz="1500" dirty="0">
              <a:latin typeface="Georgia" panose="02040502050405020303" pitchFamily="18" charset="0"/>
            </a:endParaRPr>
          </a:p>
        </p:txBody>
      </p:sp>
      <p:sp>
        <p:nvSpPr>
          <p:cNvPr id="15" name="Text 13">
            <a:extLst>
              <a:ext uri="{FF2B5EF4-FFF2-40B4-BE49-F238E27FC236}">
                <a16:creationId xmlns:a16="http://schemas.microsoft.com/office/drawing/2014/main" id="{D85527AE-3CD1-D16F-EB5E-5B7E423934F0}"/>
              </a:ext>
            </a:extLst>
          </p:cNvPr>
          <p:cNvSpPr/>
          <p:nvPr/>
        </p:nvSpPr>
        <p:spPr>
          <a:xfrm>
            <a:off x="3435400" y="2463105"/>
            <a:ext cx="2318817" cy="371475"/>
          </a:xfrm>
          <a:prstGeom prst="rect">
            <a:avLst/>
          </a:prstGeom>
          <a:noFill/>
          <a:ln/>
        </p:spPr>
        <p:txBody>
          <a:bodyPr wrap="square" lIns="0" tIns="0" rIns="0" bIns="0" rtlCol="0" anchor="t"/>
          <a:lstStyle/>
          <a:p>
            <a:pPr marL="0" indent="0" algn="l">
              <a:lnSpc>
                <a:spcPts val="1463"/>
              </a:lnSpc>
              <a:spcAft>
                <a:spcPts val="1200"/>
              </a:spcAft>
              <a:buNone/>
            </a:pPr>
            <a:r>
              <a:rPr lang="en-US" sz="975" dirty="0">
                <a:solidFill>
                  <a:srgbClr val="78716C"/>
                </a:solidFill>
                <a:latin typeface="Georgia" panose="02040502050405020303" pitchFamily="18" charset="0"/>
                <a:ea typeface="Arial" pitchFamily="34" charset="-122"/>
                <a:cs typeface="Arial" pitchFamily="34" charset="-120"/>
              </a:rPr>
              <a:t>Ajout de régularisation contre le surapprentissage (0.5)</a:t>
            </a:r>
          </a:p>
          <a:p>
            <a:pPr marL="0" indent="0" algn="l">
              <a:lnSpc>
                <a:spcPts val="1463"/>
              </a:lnSpc>
              <a:spcAft>
                <a:spcPts val="1200"/>
              </a:spcAft>
              <a:buNone/>
            </a:pPr>
            <a:r>
              <a:rPr lang="en-US" sz="975" dirty="0">
                <a:solidFill>
                  <a:srgbClr val="78716C"/>
                </a:solidFill>
                <a:latin typeface="Georgia" panose="02040502050405020303" pitchFamily="18" charset="0"/>
                <a:cs typeface="Arial" pitchFamily="34" charset="-120"/>
              </a:rPr>
              <a:t>J’ai retesté avec 0.25 mais cela ne change rien, cela veut dire que ce sont les datas qui sont trop petites (400 photos)</a:t>
            </a:r>
            <a:endParaRPr lang="en-US" sz="975" dirty="0">
              <a:latin typeface="Georgia" panose="02040502050405020303" pitchFamily="18" charset="0"/>
            </a:endParaRPr>
          </a:p>
        </p:txBody>
      </p:sp>
      <p:sp>
        <p:nvSpPr>
          <p:cNvPr id="16" name="Text 14">
            <a:extLst>
              <a:ext uri="{FF2B5EF4-FFF2-40B4-BE49-F238E27FC236}">
                <a16:creationId xmlns:a16="http://schemas.microsoft.com/office/drawing/2014/main" id="{D344FCEE-11FA-5471-D8B6-69D31562B957}"/>
              </a:ext>
            </a:extLst>
          </p:cNvPr>
          <p:cNvSpPr/>
          <p:nvPr/>
        </p:nvSpPr>
        <p:spPr>
          <a:xfrm>
            <a:off x="3324039" y="3580916"/>
            <a:ext cx="2318817" cy="426690"/>
          </a:xfrm>
          <a:prstGeom prst="rect">
            <a:avLst/>
          </a:prstGeom>
          <a:noFill/>
          <a:ln/>
        </p:spPr>
        <p:txBody>
          <a:bodyPr wrap="square" lIns="0" tIns="0" rIns="0" bIns="0" rtlCol="0" anchor="t"/>
          <a:lstStyle/>
          <a:p>
            <a:pPr marL="0" indent="0" algn="ctr">
              <a:lnSpc>
                <a:spcPts val="3360"/>
              </a:lnSpc>
              <a:spcBef>
                <a:spcPts val="1200"/>
              </a:spcBef>
              <a:buNone/>
            </a:pPr>
            <a:r>
              <a:rPr lang="en-US" sz="2400" b="1" dirty="0">
                <a:solidFill>
                  <a:srgbClr val="1C1917"/>
                </a:solidFill>
                <a:latin typeface="Georgia" panose="02040502050405020303" pitchFamily="18" charset="0"/>
                <a:ea typeface="Arial" pitchFamily="34" charset="-122"/>
                <a:cs typeface="Arial" pitchFamily="34" charset="-120"/>
              </a:rPr>
              <a:t>33,3%</a:t>
            </a:r>
            <a:endParaRPr lang="en-US" sz="2400" dirty="0">
              <a:latin typeface="Georgia" panose="02040502050405020303" pitchFamily="18" charset="0"/>
            </a:endParaRPr>
          </a:p>
        </p:txBody>
      </p:sp>
      <p:sp>
        <p:nvSpPr>
          <p:cNvPr id="17" name="Text 15">
            <a:extLst>
              <a:ext uri="{FF2B5EF4-FFF2-40B4-BE49-F238E27FC236}">
                <a16:creationId xmlns:a16="http://schemas.microsoft.com/office/drawing/2014/main" id="{6FD6491A-813D-011B-52BD-5E277496605D}"/>
              </a:ext>
            </a:extLst>
          </p:cNvPr>
          <p:cNvSpPr/>
          <p:nvPr/>
        </p:nvSpPr>
        <p:spPr>
          <a:xfrm>
            <a:off x="3435400" y="4132808"/>
            <a:ext cx="2318817"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Accuracy</a:t>
            </a:r>
            <a:endParaRPr lang="en-US" sz="900" dirty="0">
              <a:latin typeface="Georgia" panose="02040502050405020303" pitchFamily="18" charset="0"/>
            </a:endParaRPr>
          </a:p>
        </p:txBody>
      </p:sp>
      <p:sp>
        <p:nvSpPr>
          <p:cNvPr id="18" name="Text 16">
            <a:extLst>
              <a:ext uri="{FF2B5EF4-FFF2-40B4-BE49-F238E27FC236}">
                <a16:creationId xmlns:a16="http://schemas.microsoft.com/office/drawing/2014/main" id="{2279D1F6-6572-15EE-B1E4-6B2AFD67609F}"/>
              </a:ext>
            </a:extLst>
          </p:cNvPr>
          <p:cNvSpPr/>
          <p:nvPr/>
        </p:nvSpPr>
        <p:spPr>
          <a:xfrm>
            <a:off x="6241788" y="1383953"/>
            <a:ext cx="2654350" cy="3099346"/>
          </a:xfrm>
          <a:prstGeom prst="roundRect">
            <a:avLst>
              <a:gd name="adj" fmla="val 4306"/>
            </a:avLst>
          </a:prstGeom>
          <a:solidFill>
            <a:srgbClr val="059669"/>
          </a:solidFill>
          <a:ln/>
        </p:spPr>
        <p:txBody>
          <a:bodyPr wrap="square" rtlCol="0" anchor="ctr"/>
          <a:lstStyle/>
          <a:p>
            <a:r>
              <a:rPr lang="en-US" sz="980" dirty="0">
                <a:solidFill>
                  <a:srgbClr val="FFFFFF">
                    <a:alpha val="85000"/>
                  </a:srgbClr>
                </a:solidFill>
                <a:latin typeface="Georgia" panose="02040502050405020303" pitchFamily="18" charset="0"/>
                <a:ea typeface="Arial" pitchFamily="34" charset="-122"/>
                <a:cs typeface="Arial" pitchFamily="34" charset="-120"/>
              </a:rPr>
              <a:t>Modèle </a:t>
            </a:r>
            <a:r>
              <a:rPr lang="en-US" sz="980" b="1" dirty="0">
                <a:solidFill>
                  <a:srgbClr val="FFFFFF">
                    <a:alpha val="85000"/>
                  </a:srgbClr>
                </a:solidFill>
                <a:latin typeface="Georgia" panose="02040502050405020303" pitchFamily="18" charset="0"/>
                <a:ea typeface="Arial" pitchFamily="34" charset="-122"/>
                <a:cs typeface="Arial" pitchFamily="34" charset="-120"/>
              </a:rPr>
              <a:t>VGG16 </a:t>
            </a:r>
            <a:r>
              <a:rPr lang="en-US" sz="980" dirty="0">
                <a:solidFill>
                  <a:srgbClr val="FFFFFF">
                    <a:alpha val="85000"/>
                  </a:srgbClr>
                </a:solidFill>
                <a:latin typeface="Georgia" panose="02040502050405020303" pitchFamily="18" charset="0"/>
                <a:ea typeface="Arial" pitchFamily="34" charset="-122"/>
                <a:cs typeface="Arial" pitchFamily="34" charset="-120"/>
              </a:rPr>
              <a:t>pré-entraîné sur 14 millions d'images</a:t>
            </a:r>
            <a:endParaRPr lang="en-US" sz="980" dirty="0">
              <a:latin typeface="Georgia" panose="02040502050405020303" pitchFamily="18" charset="0"/>
            </a:endParaRPr>
          </a:p>
        </p:txBody>
      </p:sp>
      <p:sp>
        <p:nvSpPr>
          <p:cNvPr id="19" name="Text 17">
            <a:extLst>
              <a:ext uri="{FF2B5EF4-FFF2-40B4-BE49-F238E27FC236}">
                <a16:creationId xmlns:a16="http://schemas.microsoft.com/office/drawing/2014/main" id="{B2C9B0C7-F2CE-34BE-19C0-575C2C9E6FD8}"/>
              </a:ext>
            </a:extLst>
          </p:cNvPr>
          <p:cNvSpPr/>
          <p:nvPr/>
        </p:nvSpPr>
        <p:spPr>
          <a:xfrm>
            <a:off x="6394549" y="1574453"/>
            <a:ext cx="2043207" cy="312390"/>
          </a:xfrm>
          <a:prstGeom prst="roundRect">
            <a:avLst>
              <a:gd name="adj" fmla="val 60981"/>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0" name="Text 18">
            <a:extLst>
              <a:ext uri="{FF2B5EF4-FFF2-40B4-BE49-F238E27FC236}">
                <a16:creationId xmlns:a16="http://schemas.microsoft.com/office/drawing/2014/main" id="{8795D8D6-D790-767F-0921-A56EE18FF0DC}"/>
              </a:ext>
            </a:extLst>
          </p:cNvPr>
          <p:cNvSpPr/>
          <p:nvPr/>
        </p:nvSpPr>
        <p:spPr>
          <a:xfrm>
            <a:off x="6546948" y="1650653"/>
            <a:ext cx="2120801" cy="83790"/>
          </a:xfrm>
          <a:prstGeom prst="rect">
            <a:avLst/>
          </a:prstGeom>
          <a:noFill/>
          <a:ln/>
        </p:spPr>
        <p:txBody>
          <a:bodyPr wrap="square" lIns="0" tIns="0" rIns="0" bIns="0" rtlCol="0" anchor="t"/>
          <a:lstStyle/>
          <a:p>
            <a:pPr marL="0" indent="0" algn="l">
              <a:lnSpc>
                <a:spcPts val="1260"/>
              </a:lnSpc>
              <a:buNone/>
            </a:pPr>
            <a:r>
              <a:rPr lang="en-US" sz="900" b="1" dirty="0">
                <a:solidFill>
                  <a:srgbClr val="059669"/>
                </a:solidFill>
                <a:latin typeface="Georgia" panose="02040502050405020303" pitchFamily="18" charset="0"/>
                <a:ea typeface="Arial" pitchFamily="34" charset="-122"/>
                <a:cs typeface="Arial" pitchFamily="34" charset="-120"/>
              </a:rPr>
              <a:t>SOLUTION  RECOMMANDÉE</a:t>
            </a:r>
            <a:endParaRPr lang="en-US" sz="900" dirty="0">
              <a:latin typeface="Georgia" panose="02040502050405020303" pitchFamily="18" charset="0"/>
            </a:endParaRPr>
          </a:p>
        </p:txBody>
      </p:sp>
      <p:sp>
        <p:nvSpPr>
          <p:cNvPr id="21" name="Text 19">
            <a:extLst>
              <a:ext uri="{FF2B5EF4-FFF2-40B4-BE49-F238E27FC236}">
                <a16:creationId xmlns:a16="http://schemas.microsoft.com/office/drawing/2014/main" id="{1FB2168C-7053-4FEF-74AA-8834102A90C0}"/>
              </a:ext>
            </a:extLst>
          </p:cNvPr>
          <p:cNvSpPr/>
          <p:nvPr/>
        </p:nvSpPr>
        <p:spPr>
          <a:xfrm>
            <a:off x="6394549" y="2191643"/>
            <a:ext cx="2318817" cy="266700"/>
          </a:xfrm>
          <a:prstGeom prst="rect">
            <a:avLst/>
          </a:prstGeom>
          <a:noFill/>
          <a:ln/>
        </p:spPr>
        <p:txBody>
          <a:bodyPr wrap="square" lIns="0" tIns="0" rIns="0" bIns="0" rtlCol="0" anchor="t"/>
          <a:lstStyle/>
          <a:p>
            <a:pPr marL="0" indent="0" algn="l">
              <a:lnSpc>
                <a:spcPts val="2100"/>
              </a:lnSpc>
              <a:spcBef>
                <a:spcPts val="1200"/>
              </a:spcBef>
              <a:spcAft>
                <a:spcPts val="600"/>
              </a:spcAft>
              <a:buNone/>
            </a:pPr>
            <a:r>
              <a:rPr lang="en-US" sz="1500" b="1" dirty="0">
                <a:solidFill>
                  <a:srgbClr val="FFFFFF"/>
                </a:solidFill>
                <a:latin typeface="Georgia" panose="02040502050405020303" pitchFamily="18" charset="0"/>
                <a:ea typeface="Arial" pitchFamily="34" charset="-122"/>
                <a:cs typeface="Arial" pitchFamily="34" charset="-120"/>
              </a:rPr>
              <a:t>Transfer Learning</a:t>
            </a:r>
            <a:endParaRPr lang="en-US" sz="1500" dirty="0">
              <a:latin typeface="Georgia" panose="02040502050405020303" pitchFamily="18" charset="0"/>
            </a:endParaRPr>
          </a:p>
        </p:txBody>
      </p:sp>
      <p:sp>
        <p:nvSpPr>
          <p:cNvPr id="22" name="Text 20">
            <a:extLst>
              <a:ext uri="{FF2B5EF4-FFF2-40B4-BE49-F238E27FC236}">
                <a16:creationId xmlns:a16="http://schemas.microsoft.com/office/drawing/2014/main" id="{34E8A854-9530-11AE-8225-3F27864AB280}"/>
              </a:ext>
            </a:extLst>
          </p:cNvPr>
          <p:cNvSpPr/>
          <p:nvPr/>
        </p:nvSpPr>
        <p:spPr>
          <a:xfrm>
            <a:off x="6394546" y="3283442"/>
            <a:ext cx="2318817" cy="371475"/>
          </a:xfrm>
          <a:prstGeom prst="rect">
            <a:avLst/>
          </a:prstGeom>
          <a:noFill/>
          <a:ln/>
        </p:spPr>
        <p:txBody>
          <a:bodyPr wrap="square" lIns="0" tIns="0" rIns="0" bIns="0" rtlCol="0" anchor="t"/>
          <a:lstStyle/>
          <a:p>
            <a:pPr marL="0" indent="0" algn="l">
              <a:lnSpc>
                <a:spcPts val="1463"/>
              </a:lnSpc>
              <a:spcAft>
                <a:spcPts val="1200"/>
              </a:spcAft>
              <a:buNone/>
            </a:pPr>
            <a:br>
              <a:rPr lang="en-US" sz="975" dirty="0">
                <a:solidFill>
                  <a:srgbClr val="FFFFFF">
                    <a:alpha val="85000"/>
                  </a:srgbClr>
                </a:solidFill>
                <a:latin typeface="Georgia" panose="02040502050405020303" pitchFamily="18" charset="0"/>
                <a:ea typeface="Arial" pitchFamily="34" charset="-122"/>
                <a:cs typeface="Arial" pitchFamily="34" charset="-120"/>
              </a:rPr>
            </a:br>
            <a:r>
              <a:rPr lang="en-US" sz="975" dirty="0">
                <a:solidFill>
                  <a:srgbClr val="FFFFFF">
                    <a:alpha val="85000"/>
                  </a:srgbClr>
                </a:solidFill>
                <a:latin typeface="Georgia" panose="02040502050405020303" pitchFamily="18" charset="0"/>
                <a:ea typeface="Arial" pitchFamily="34" charset="-122"/>
                <a:cs typeface="Arial" pitchFamily="34" charset="-120"/>
              </a:rPr>
              <a:t>Modèle </a:t>
            </a:r>
            <a:r>
              <a:rPr lang="en-US" sz="975" b="1" dirty="0">
                <a:solidFill>
                  <a:srgbClr val="FFFFFF">
                    <a:alpha val="85000"/>
                  </a:srgbClr>
                </a:solidFill>
                <a:latin typeface="Georgia" panose="02040502050405020303" pitchFamily="18" charset="0"/>
                <a:ea typeface="Arial" pitchFamily="34" charset="-122"/>
                <a:cs typeface="Arial" pitchFamily="34" charset="-120"/>
              </a:rPr>
              <a:t>MobileNetV2</a:t>
            </a:r>
            <a:r>
              <a:rPr lang="en-US" sz="975" dirty="0">
                <a:solidFill>
                  <a:srgbClr val="FFFFFF">
                    <a:alpha val="85000"/>
                  </a:srgbClr>
                </a:solidFill>
                <a:latin typeface="Georgia" panose="02040502050405020303" pitchFamily="18" charset="0"/>
                <a:ea typeface="Arial" pitchFamily="34" charset="-122"/>
                <a:cs typeface="Arial" pitchFamily="34" charset="-120"/>
              </a:rPr>
              <a:t> : plus léger que VGG16 (seulement 3.5 millions versus 138 millions) est parfaitement adapté au petit dataset</a:t>
            </a:r>
            <a:endParaRPr lang="en-US" sz="975" dirty="0">
              <a:latin typeface="Georgia" panose="02040502050405020303" pitchFamily="18" charset="0"/>
            </a:endParaRPr>
          </a:p>
        </p:txBody>
      </p:sp>
      <p:sp>
        <p:nvSpPr>
          <p:cNvPr id="23" name="Text 21">
            <a:extLst>
              <a:ext uri="{FF2B5EF4-FFF2-40B4-BE49-F238E27FC236}">
                <a16:creationId xmlns:a16="http://schemas.microsoft.com/office/drawing/2014/main" id="{26138A60-0BDA-51F9-7681-C01ED6A08787}"/>
              </a:ext>
            </a:extLst>
          </p:cNvPr>
          <p:cNvSpPr/>
          <p:nvPr/>
        </p:nvSpPr>
        <p:spPr>
          <a:xfrm>
            <a:off x="6539433" y="4002424"/>
            <a:ext cx="2318817" cy="426690"/>
          </a:xfrm>
          <a:prstGeom prst="rect">
            <a:avLst/>
          </a:prstGeom>
          <a:noFill/>
          <a:ln/>
        </p:spPr>
        <p:txBody>
          <a:bodyPr wrap="square" lIns="0" tIns="0" rIns="0" bIns="0" rtlCol="0" anchor="t"/>
          <a:lstStyle/>
          <a:p>
            <a:pPr marL="0" indent="0" algn="ctr">
              <a:lnSpc>
                <a:spcPts val="3360"/>
              </a:lnSpc>
              <a:spcBef>
                <a:spcPts val="1200"/>
              </a:spcBef>
              <a:buNone/>
            </a:pPr>
            <a:r>
              <a:rPr lang="en-US" sz="2400" b="1" dirty="0">
                <a:solidFill>
                  <a:srgbClr val="FFFFFF"/>
                </a:solidFill>
                <a:latin typeface="Georgia" panose="02040502050405020303" pitchFamily="18" charset="0"/>
                <a:ea typeface="Arial" pitchFamily="34" charset="-122"/>
                <a:cs typeface="Arial" pitchFamily="34" charset="-120"/>
              </a:rPr>
              <a:t>94,2%</a:t>
            </a:r>
            <a:endParaRPr lang="en-US" sz="2400" dirty="0">
              <a:latin typeface="Georgia" panose="02040502050405020303" pitchFamily="18" charset="0"/>
            </a:endParaRPr>
          </a:p>
        </p:txBody>
      </p:sp>
      <p:sp>
        <p:nvSpPr>
          <p:cNvPr id="24" name="Text 22">
            <a:extLst>
              <a:ext uri="{FF2B5EF4-FFF2-40B4-BE49-F238E27FC236}">
                <a16:creationId xmlns:a16="http://schemas.microsoft.com/office/drawing/2014/main" id="{2217658F-BE4F-AA57-A1B1-0EFD9A783A26}"/>
              </a:ext>
            </a:extLst>
          </p:cNvPr>
          <p:cNvSpPr/>
          <p:nvPr/>
        </p:nvSpPr>
        <p:spPr>
          <a:xfrm>
            <a:off x="6394547" y="4299558"/>
            <a:ext cx="2318817"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FFFFFF">
                    <a:alpha val="80000"/>
                  </a:srgbClr>
                </a:solidFill>
                <a:latin typeface="Georgia" panose="02040502050405020303" pitchFamily="18" charset="0"/>
                <a:ea typeface="Arial" pitchFamily="34" charset="-122"/>
                <a:cs typeface="Arial" pitchFamily="34" charset="-120"/>
              </a:rPr>
              <a:t>Accuracy</a:t>
            </a:r>
            <a:endParaRPr lang="en-US" sz="900" dirty="0">
              <a:latin typeface="Georgia" panose="02040502050405020303" pitchFamily="18" charset="0"/>
            </a:endParaRPr>
          </a:p>
        </p:txBody>
      </p:sp>
      <p:sp>
        <p:nvSpPr>
          <p:cNvPr id="25" name="Text 21">
            <a:extLst>
              <a:ext uri="{FF2B5EF4-FFF2-40B4-BE49-F238E27FC236}">
                <a16:creationId xmlns:a16="http://schemas.microsoft.com/office/drawing/2014/main" id="{88EB306D-483F-B424-8F44-50D639FD49B9}"/>
              </a:ext>
            </a:extLst>
          </p:cNvPr>
          <p:cNvSpPr/>
          <p:nvPr/>
        </p:nvSpPr>
        <p:spPr>
          <a:xfrm>
            <a:off x="6478430" y="3052688"/>
            <a:ext cx="2318817" cy="426690"/>
          </a:xfrm>
          <a:prstGeom prst="rect">
            <a:avLst/>
          </a:prstGeom>
          <a:noFill/>
          <a:ln/>
        </p:spPr>
        <p:txBody>
          <a:bodyPr wrap="square" lIns="0" tIns="0" rIns="0" bIns="0" rtlCol="0" anchor="t"/>
          <a:lstStyle/>
          <a:p>
            <a:pPr marL="0" indent="0" algn="ctr">
              <a:lnSpc>
                <a:spcPts val="3360"/>
              </a:lnSpc>
              <a:spcBef>
                <a:spcPts val="1200"/>
              </a:spcBef>
              <a:buNone/>
            </a:pPr>
            <a:r>
              <a:rPr lang="en-US" sz="2400" b="1" dirty="0">
                <a:solidFill>
                  <a:srgbClr val="FFFFFF"/>
                </a:solidFill>
                <a:latin typeface="Georgia" panose="02040502050405020303" pitchFamily="18" charset="0"/>
                <a:ea typeface="Arial" pitchFamily="34" charset="-122"/>
                <a:cs typeface="Arial" pitchFamily="34" charset="-120"/>
              </a:rPr>
              <a:t>84,17%</a:t>
            </a:r>
            <a:endParaRPr lang="en-US" sz="2400" dirty="0">
              <a:latin typeface="Georgia" panose="02040502050405020303" pitchFamily="18" charset="0"/>
            </a:endParaRPr>
          </a:p>
        </p:txBody>
      </p:sp>
    </p:spTree>
    <p:extLst>
      <p:ext uri="{BB962C8B-B14F-4D97-AF65-F5344CB8AC3E}">
        <p14:creationId xmlns:p14="http://schemas.microsoft.com/office/powerpoint/2010/main" val="3784198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7ED"/>
        </a:solidFill>
        <a:effectLst/>
      </p:bgPr>
    </p:bg>
    <p:spTree>
      <p:nvGrpSpPr>
        <p:cNvPr id="1" name="">
          <a:extLst>
            <a:ext uri="{FF2B5EF4-FFF2-40B4-BE49-F238E27FC236}">
              <a16:creationId xmlns:a16="http://schemas.microsoft.com/office/drawing/2014/main" id="{38A65F78-81DF-B1B9-818B-4964B0C516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45E61A-B7DA-53F0-AB2E-4EC5E1833500}"/>
              </a:ext>
            </a:extLst>
          </p:cNvPr>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latin typeface="Georgia" panose="02040502050405020303" pitchFamily="18" charset="0"/>
            </a:endParaRPr>
          </a:p>
        </p:txBody>
      </p:sp>
      <p:sp>
        <p:nvSpPr>
          <p:cNvPr id="3" name="Text 1">
            <a:extLst>
              <a:ext uri="{FF2B5EF4-FFF2-40B4-BE49-F238E27FC236}">
                <a16:creationId xmlns:a16="http://schemas.microsoft.com/office/drawing/2014/main" id="{6005C684-D9D4-2C0F-A798-527A81EF38D4}"/>
              </a:ext>
            </a:extLst>
          </p:cNvPr>
          <p:cNvSpPr/>
          <p:nvPr/>
        </p:nvSpPr>
        <p:spPr>
          <a:xfrm>
            <a:off x="400050" y="228600"/>
            <a:ext cx="4371975" cy="342900"/>
          </a:xfrm>
          <a:prstGeom prst="rect">
            <a:avLst/>
          </a:prstGeom>
          <a:noFill/>
          <a:ln/>
        </p:spPr>
        <p:txBody>
          <a:bodyPr wrap="square" lIns="0" tIns="0" rIns="0" bIns="0" rtlCol="0" anchor="t"/>
          <a:lstStyle/>
          <a:p>
            <a:pPr marL="0" indent="0" algn="l">
              <a:lnSpc>
                <a:spcPts val="2700"/>
              </a:lnSpc>
              <a:buNone/>
            </a:pPr>
            <a:r>
              <a:rPr lang="en-US" sz="2700" b="1" dirty="0">
                <a:solidFill>
                  <a:srgbClr val="1E3A5F"/>
                </a:solidFill>
                <a:latin typeface="Georgia" panose="02040502050405020303" pitchFamily="18" charset="0"/>
                <a:ea typeface="Georgia" pitchFamily="34" charset="-122"/>
                <a:cs typeface="Georgia" pitchFamily="34" charset="-120"/>
              </a:rPr>
              <a:t>Approches Testées</a:t>
            </a:r>
            <a:br>
              <a:rPr lang="en-US" sz="2700" b="1" dirty="0">
                <a:solidFill>
                  <a:srgbClr val="1E3A5F"/>
                </a:solidFill>
                <a:latin typeface="Georgia" panose="02040502050405020303" pitchFamily="18" charset="0"/>
                <a:ea typeface="Georgia" pitchFamily="34" charset="-122"/>
                <a:cs typeface="Georgia" pitchFamily="34" charset="-120"/>
              </a:rPr>
            </a:br>
            <a:r>
              <a:rPr lang="en-US" sz="2700" b="1" dirty="0">
                <a:solidFill>
                  <a:srgbClr val="1E3A5F"/>
                </a:solidFill>
                <a:latin typeface="Georgia" panose="02040502050405020303" pitchFamily="18" charset="0"/>
                <a:ea typeface="Georgia" pitchFamily="34" charset="-122"/>
                <a:cs typeface="Georgia" pitchFamily="34" charset="-120"/>
              </a:rPr>
              <a:t>Limites</a:t>
            </a:r>
            <a:endParaRPr lang="en-US" sz="2700" dirty="0">
              <a:latin typeface="Georgia" panose="02040502050405020303" pitchFamily="18" charset="0"/>
            </a:endParaRPr>
          </a:p>
        </p:txBody>
      </p:sp>
      <p:sp>
        <p:nvSpPr>
          <p:cNvPr id="4" name="Text 2">
            <a:extLst>
              <a:ext uri="{FF2B5EF4-FFF2-40B4-BE49-F238E27FC236}">
                <a16:creationId xmlns:a16="http://schemas.microsoft.com/office/drawing/2014/main" id="{648A82C2-F14F-CB9F-DFDC-953B0D92C91C}"/>
              </a:ext>
            </a:extLst>
          </p:cNvPr>
          <p:cNvSpPr/>
          <p:nvPr/>
        </p:nvSpPr>
        <p:spPr>
          <a:xfrm>
            <a:off x="219075" y="1383953"/>
            <a:ext cx="2575992" cy="2502247"/>
          </a:xfrm>
          <a:prstGeom prst="roundRect">
            <a:avLst>
              <a:gd name="adj" fmla="val 4306"/>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5" name="Text 3">
            <a:extLst>
              <a:ext uri="{FF2B5EF4-FFF2-40B4-BE49-F238E27FC236}">
                <a16:creationId xmlns:a16="http://schemas.microsoft.com/office/drawing/2014/main" id="{C916A013-5EB4-433B-486A-7C10D599D78B}"/>
              </a:ext>
            </a:extLst>
          </p:cNvPr>
          <p:cNvSpPr/>
          <p:nvPr/>
        </p:nvSpPr>
        <p:spPr>
          <a:xfrm>
            <a:off x="438000" y="1574453"/>
            <a:ext cx="1324626" cy="312390"/>
          </a:xfrm>
          <a:prstGeom prst="roundRect">
            <a:avLst>
              <a:gd name="adj" fmla="val 60981"/>
            </a:avLst>
          </a:prstGeom>
          <a:solidFill>
            <a:srgbClr val="3498DB"/>
          </a:solidFill>
          <a:ln/>
        </p:spPr>
        <p:txBody>
          <a:bodyPr wrap="square" rtlCol="0" anchor="ctr"/>
          <a:lstStyle/>
          <a:p>
            <a:pPr marL="0" indent="0">
              <a:buNone/>
            </a:pPr>
            <a:endParaRPr lang="en-US" dirty="0">
              <a:latin typeface="Georgia" panose="02040502050405020303" pitchFamily="18" charset="0"/>
            </a:endParaRPr>
          </a:p>
        </p:txBody>
      </p:sp>
      <p:sp>
        <p:nvSpPr>
          <p:cNvPr id="6" name="Text 4">
            <a:extLst>
              <a:ext uri="{FF2B5EF4-FFF2-40B4-BE49-F238E27FC236}">
                <a16:creationId xmlns:a16="http://schemas.microsoft.com/office/drawing/2014/main" id="{EFB90383-8353-8788-7BD3-B6249E2D3555}"/>
              </a:ext>
            </a:extLst>
          </p:cNvPr>
          <p:cNvSpPr/>
          <p:nvPr/>
        </p:nvSpPr>
        <p:spPr>
          <a:xfrm>
            <a:off x="628650" y="1650653"/>
            <a:ext cx="1047898" cy="159990"/>
          </a:xfrm>
          <a:prstGeom prst="rect">
            <a:avLst/>
          </a:prstGeom>
          <a:noFill/>
          <a:ln/>
        </p:spPr>
        <p:txBody>
          <a:bodyPr wrap="square" lIns="0" tIns="0" rIns="0" bIns="0" rtlCol="0" anchor="t"/>
          <a:lstStyle/>
          <a:p>
            <a:pPr marL="0" indent="0" algn="l">
              <a:lnSpc>
                <a:spcPts val="1260"/>
              </a:lnSpc>
              <a:buNone/>
            </a:pPr>
            <a:r>
              <a:rPr lang="en-US" sz="1200" b="1" dirty="0">
                <a:solidFill>
                  <a:srgbClr val="FFFFFF"/>
                </a:solidFill>
                <a:latin typeface="Georgia" panose="02040502050405020303" pitchFamily="18" charset="0"/>
                <a:cs typeface="Arial" pitchFamily="34" charset="-120"/>
              </a:rPr>
              <a:t>1ère Solution</a:t>
            </a:r>
            <a:endParaRPr lang="en-US" sz="1200" dirty="0">
              <a:latin typeface="Georgia" panose="02040502050405020303" pitchFamily="18" charset="0"/>
            </a:endParaRPr>
          </a:p>
        </p:txBody>
      </p:sp>
      <p:sp>
        <p:nvSpPr>
          <p:cNvPr id="7" name="Text 5">
            <a:extLst>
              <a:ext uri="{FF2B5EF4-FFF2-40B4-BE49-F238E27FC236}">
                <a16:creationId xmlns:a16="http://schemas.microsoft.com/office/drawing/2014/main" id="{B7257B5A-8C59-5F8C-0823-25F645A2A9BE}"/>
              </a:ext>
            </a:extLst>
          </p:cNvPr>
          <p:cNvSpPr/>
          <p:nvPr/>
        </p:nvSpPr>
        <p:spPr>
          <a:xfrm>
            <a:off x="323849" y="2185737"/>
            <a:ext cx="2623617" cy="266700"/>
          </a:xfrm>
          <a:prstGeom prst="rect">
            <a:avLst/>
          </a:prstGeom>
          <a:noFill/>
          <a:ln/>
        </p:spPr>
        <p:txBody>
          <a:bodyPr wrap="square" lIns="0" tIns="0" rIns="0" bIns="0" rtlCol="0" anchor="t"/>
          <a:lstStyle/>
          <a:p>
            <a:pPr marL="0" indent="0" algn="l">
              <a:lnSpc>
                <a:spcPts val="2100"/>
              </a:lnSpc>
              <a:spcBef>
                <a:spcPts val="1200"/>
              </a:spcBef>
              <a:spcAft>
                <a:spcPts val="600"/>
              </a:spcAft>
              <a:buNone/>
            </a:pPr>
            <a:r>
              <a:rPr lang="en-US" sz="1500" b="1" dirty="0">
                <a:solidFill>
                  <a:srgbClr val="1E3A5F"/>
                </a:solidFill>
                <a:latin typeface="Georgia" panose="02040502050405020303" pitchFamily="18" charset="0"/>
                <a:cs typeface="Arial" pitchFamily="34" charset="-120"/>
              </a:rPr>
              <a:t>Entropie des prédictions</a:t>
            </a:r>
            <a:endParaRPr lang="en-US" sz="1500" dirty="0">
              <a:latin typeface="Georgia" panose="02040502050405020303" pitchFamily="18" charset="0"/>
            </a:endParaRPr>
          </a:p>
        </p:txBody>
      </p:sp>
      <p:sp>
        <p:nvSpPr>
          <p:cNvPr id="8" name="Text 6">
            <a:extLst>
              <a:ext uri="{FF2B5EF4-FFF2-40B4-BE49-F238E27FC236}">
                <a16:creationId xmlns:a16="http://schemas.microsoft.com/office/drawing/2014/main" id="{71406033-55C3-7BAC-CA01-B577010A5855}"/>
              </a:ext>
            </a:extLst>
          </p:cNvPr>
          <p:cNvSpPr/>
          <p:nvPr/>
        </p:nvSpPr>
        <p:spPr>
          <a:xfrm>
            <a:off x="476250" y="2686943"/>
            <a:ext cx="2318817" cy="371475"/>
          </a:xfrm>
          <a:prstGeom prst="rect">
            <a:avLst/>
          </a:prstGeom>
          <a:noFill/>
          <a:ln/>
        </p:spPr>
        <p:txBody>
          <a:bodyPr wrap="square" lIns="0" tIns="0" rIns="0" bIns="0" rtlCol="0" anchor="t"/>
          <a:lstStyle/>
          <a:p>
            <a:pPr marL="0" indent="0" algn="l">
              <a:lnSpc>
                <a:spcPts val="1463"/>
              </a:lnSpc>
              <a:spcAft>
                <a:spcPts val="1200"/>
              </a:spcAft>
              <a:buNone/>
            </a:pPr>
            <a:r>
              <a:rPr lang="en-US" sz="975" dirty="0">
                <a:solidFill>
                  <a:srgbClr val="78716C"/>
                </a:solidFill>
                <a:latin typeface="Georgia" panose="02040502050405020303" pitchFamily="18" charset="0"/>
                <a:ea typeface="Arial" pitchFamily="34" charset="-122"/>
                <a:cs typeface="Arial" pitchFamily="34" charset="-120"/>
              </a:rPr>
              <a:t>Ajouter une métrique qui mesure l’incertitude du résultat. </a:t>
            </a:r>
          </a:p>
        </p:txBody>
      </p:sp>
      <p:sp>
        <p:nvSpPr>
          <p:cNvPr id="11" name="Text 9">
            <a:extLst>
              <a:ext uri="{FF2B5EF4-FFF2-40B4-BE49-F238E27FC236}">
                <a16:creationId xmlns:a16="http://schemas.microsoft.com/office/drawing/2014/main" id="{B139B14D-D199-8029-3E69-53B0CD852A25}"/>
              </a:ext>
            </a:extLst>
          </p:cNvPr>
          <p:cNvSpPr/>
          <p:nvPr/>
        </p:nvSpPr>
        <p:spPr>
          <a:xfrm>
            <a:off x="3244900" y="1383953"/>
            <a:ext cx="2509317" cy="2502247"/>
          </a:xfrm>
          <a:prstGeom prst="roundRect">
            <a:avLst>
              <a:gd name="adj" fmla="val 4306"/>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2" name="Text 10">
            <a:extLst>
              <a:ext uri="{FF2B5EF4-FFF2-40B4-BE49-F238E27FC236}">
                <a16:creationId xmlns:a16="http://schemas.microsoft.com/office/drawing/2014/main" id="{DAA3B925-D361-1692-4B2D-D3BEA2857588}"/>
              </a:ext>
            </a:extLst>
          </p:cNvPr>
          <p:cNvSpPr/>
          <p:nvPr/>
        </p:nvSpPr>
        <p:spPr>
          <a:xfrm>
            <a:off x="3435399" y="1574453"/>
            <a:ext cx="1419343" cy="312390"/>
          </a:xfrm>
          <a:prstGeom prst="roundRect">
            <a:avLst>
              <a:gd name="adj" fmla="val 60981"/>
            </a:avLst>
          </a:prstGeom>
          <a:solidFill>
            <a:srgbClr val="9B59B6"/>
          </a:solidFill>
          <a:ln/>
        </p:spPr>
        <p:txBody>
          <a:bodyPr wrap="square" rtlCol="0" anchor="ctr"/>
          <a:lstStyle/>
          <a:p>
            <a:pPr marL="0" indent="0">
              <a:buNone/>
            </a:pPr>
            <a:endParaRPr lang="en-US" dirty="0">
              <a:latin typeface="Georgia" panose="02040502050405020303" pitchFamily="18" charset="0"/>
            </a:endParaRPr>
          </a:p>
        </p:txBody>
      </p:sp>
      <p:sp>
        <p:nvSpPr>
          <p:cNvPr id="13" name="Text 11">
            <a:extLst>
              <a:ext uri="{FF2B5EF4-FFF2-40B4-BE49-F238E27FC236}">
                <a16:creationId xmlns:a16="http://schemas.microsoft.com/office/drawing/2014/main" id="{F6105CC2-588D-B98B-18F1-1EDC2DC5C9C7}"/>
              </a:ext>
            </a:extLst>
          </p:cNvPr>
          <p:cNvSpPr/>
          <p:nvPr/>
        </p:nvSpPr>
        <p:spPr>
          <a:xfrm>
            <a:off x="3587799" y="1650653"/>
            <a:ext cx="1184225" cy="159990"/>
          </a:xfrm>
          <a:prstGeom prst="rect">
            <a:avLst/>
          </a:prstGeom>
          <a:noFill/>
          <a:ln/>
        </p:spPr>
        <p:txBody>
          <a:bodyPr wrap="square" lIns="0" tIns="0" rIns="0" bIns="0" rtlCol="0" anchor="t"/>
          <a:lstStyle/>
          <a:p>
            <a:pPr>
              <a:lnSpc>
                <a:spcPts val="1260"/>
              </a:lnSpc>
            </a:pPr>
            <a:r>
              <a:rPr lang="en-US" sz="1200" b="1" dirty="0">
                <a:solidFill>
                  <a:srgbClr val="FFFFFF"/>
                </a:solidFill>
                <a:latin typeface="Georgia" panose="02040502050405020303" pitchFamily="18" charset="0"/>
                <a:cs typeface="Arial" pitchFamily="34" charset="-120"/>
              </a:rPr>
              <a:t>2ème  Solution</a:t>
            </a:r>
            <a:endParaRPr lang="en-US" sz="1200" dirty="0">
              <a:latin typeface="Georgia" panose="02040502050405020303" pitchFamily="18" charset="0"/>
            </a:endParaRPr>
          </a:p>
        </p:txBody>
      </p:sp>
      <p:sp>
        <p:nvSpPr>
          <p:cNvPr id="14" name="Text 12">
            <a:extLst>
              <a:ext uri="{FF2B5EF4-FFF2-40B4-BE49-F238E27FC236}">
                <a16:creationId xmlns:a16="http://schemas.microsoft.com/office/drawing/2014/main" id="{DAC1E6C8-A4A3-242A-8ABA-5D71953EF9CF}"/>
              </a:ext>
            </a:extLst>
          </p:cNvPr>
          <p:cNvSpPr/>
          <p:nvPr/>
        </p:nvSpPr>
        <p:spPr>
          <a:xfrm>
            <a:off x="3435400" y="2191643"/>
            <a:ext cx="2318817" cy="266700"/>
          </a:xfrm>
          <a:prstGeom prst="rect">
            <a:avLst/>
          </a:prstGeom>
          <a:noFill/>
          <a:ln/>
        </p:spPr>
        <p:txBody>
          <a:bodyPr wrap="square" lIns="0" tIns="0" rIns="0" bIns="0" rtlCol="0" anchor="t"/>
          <a:lstStyle/>
          <a:p>
            <a:pPr marL="0" indent="0" algn="l">
              <a:lnSpc>
                <a:spcPts val="2100"/>
              </a:lnSpc>
              <a:spcBef>
                <a:spcPts val="1200"/>
              </a:spcBef>
              <a:spcAft>
                <a:spcPts val="600"/>
              </a:spcAft>
              <a:buNone/>
            </a:pPr>
            <a:r>
              <a:rPr lang="en-US" sz="1500" b="1" dirty="0">
                <a:solidFill>
                  <a:srgbClr val="1E3A5F"/>
                </a:solidFill>
                <a:latin typeface="Georgia" panose="02040502050405020303" pitchFamily="18" charset="0"/>
                <a:ea typeface="Arial" pitchFamily="34" charset="-122"/>
                <a:cs typeface="Arial" pitchFamily="34" charset="-120"/>
              </a:rPr>
              <a:t>Temperature Scalling</a:t>
            </a:r>
            <a:endParaRPr lang="en-US" sz="1500" dirty="0">
              <a:latin typeface="Georgia" panose="02040502050405020303" pitchFamily="18" charset="0"/>
            </a:endParaRPr>
          </a:p>
        </p:txBody>
      </p:sp>
      <p:sp>
        <p:nvSpPr>
          <p:cNvPr id="15" name="Text 13">
            <a:extLst>
              <a:ext uri="{FF2B5EF4-FFF2-40B4-BE49-F238E27FC236}">
                <a16:creationId xmlns:a16="http://schemas.microsoft.com/office/drawing/2014/main" id="{7821E629-C903-EB6E-541E-20EBA3B4ADE1}"/>
              </a:ext>
            </a:extLst>
          </p:cNvPr>
          <p:cNvSpPr/>
          <p:nvPr/>
        </p:nvSpPr>
        <p:spPr>
          <a:xfrm>
            <a:off x="3435400" y="2700118"/>
            <a:ext cx="2318817" cy="371475"/>
          </a:xfrm>
          <a:prstGeom prst="rect">
            <a:avLst/>
          </a:prstGeom>
          <a:noFill/>
          <a:ln/>
        </p:spPr>
        <p:txBody>
          <a:bodyPr wrap="square" lIns="0" tIns="0" rIns="0" bIns="0" rtlCol="0" anchor="t"/>
          <a:lstStyle/>
          <a:p>
            <a:pPr marL="0" indent="0" algn="l">
              <a:lnSpc>
                <a:spcPts val="1463"/>
              </a:lnSpc>
              <a:spcAft>
                <a:spcPts val="1200"/>
              </a:spcAft>
              <a:buNone/>
            </a:pPr>
            <a:r>
              <a:rPr lang="en-US" sz="975" dirty="0">
                <a:solidFill>
                  <a:srgbClr val="78716C"/>
                </a:solidFill>
                <a:latin typeface="Georgia" panose="02040502050405020303" pitchFamily="18" charset="0"/>
                <a:ea typeface="Arial" pitchFamily="34" charset="-122"/>
                <a:cs typeface="Arial" pitchFamily="34" charset="-120"/>
              </a:rPr>
              <a:t>Cette technique adoucit les predictions trop confiantes</a:t>
            </a:r>
          </a:p>
          <a:p>
            <a:pPr marL="0" indent="0" algn="l">
              <a:lnSpc>
                <a:spcPts val="1463"/>
              </a:lnSpc>
              <a:spcAft>
                <a:spcPts val="1200"/>
              </a:spcAft>
              <a:buNone/>
            </a:pPr>
            <a:r>
              <a:rPr lang="en-US" sz="975" dirty="0">
                <a:solidFill>
                  <a:srgbClr val="78716C"/>
                </a:solidFill>
                <a:latin typeface="Georgia" panose="02040502050405020303" pitchFamily="18" charset="0"/>
                <a:cs typeface="Arial" pitchFamily="34" charset="-120"/>
              </a:rPr>
              <a:t>Pour l’utiliser, il faut recupérer les logits avant softmax</a:t>
            </a:r>
            <a:endParaRPr lang="en-US" sz="975" dirty="0">
              <a:latin typeface="Georgia" panose="02040502050405020303" pitchFamily="18" charset="0"/>
            </a:endParaRPr>
          </a:p>
        </p:txBody>
      </p:sp>
      <p:sp>
        <p:nvSpPr>
          <p:cNvPr id="18" name="Text 16">
            <a:extLst>
              <a:ext uri="{FF2B5EF4-FFF2-40B4-BE49-F238E27FC236}">
                <a16:creationId xmlns:a16="http://schemas.microsoft.com/office/drawing/2014/main" id="{F18F80AE-A2D7-D6CA-5DA6-9CA4E7364351}"/>
              </a:ext>
            </a:extLst>
          </p:cNvPr>
          <p:cNvSpPr/>
          <p:nvPr/>
        </p:nvSpPr>
        <p:spPr>
          <a:xfrm>
            <a:off x="6204049" y="1383953"/>
            <a:ext cx="2654349" cy="2607617"/>
          </a:xfrm>
          <a:prstGeom prst="roundRect">
            <a:avLst>
              <a:gd name="adj" fmla="val 4306"/>
            </a:avLst>
          </a:prstGeom>
          <a:solidFill>
            <a:srgbClr val="059669"/>
          </a:solidFill>
          <a:ln/>
        </p:spPr>
        <p:txBody>
          <a:bodyPr wrap="square" rtlCol="0" anchor="ctr"/>
          <a:lstStyle/>
          <a:p>
            <a:pPr marL="0" indent="0">
              <a:buNone/>
            </a:pPr>
            <a:endParaRPr lang="en-US" dirty="0">
              <a:latin typeface="Georgia" panose="02040502050405020303" pitchFamily="18" charset="0"/>
            </a:endParaRPr>
          </a:p>
        </p:txBody>
      </p:sp>
      <p:sp>
        <p:nvSpPr>
          <p:cNvPr id="19" name="Text 17">
            <a:extLst>
              <a:ext uri="{FF2B5EF4-FFF2-40B4-BE49-F238E27FC236}">
                <a16:creationId xmlns:a16="http://schemas.microsoft.com/office/drawing/2014/main" id="{247F9082-A95E-273F-2589-D45D439AB5CC}"/>
              </a:ext>
            </a:extLst>
          </p:cNvPr>
          <p:cNvSpPr/>
          <p:nvPr/>
        </p:nvSpPr>
        <p:spPr>
          <a:xfrm>
            <a:off x="6427366" y="1574453"/>
            <a:ext cx="1495430" cy="317665"/>
          </a:xfrm>
          <a:prstGeom prst="roundRect">
            <a:avLst>
              <a:gd name="adj" fmla="val 60981"/>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1" name="Text 19">
            <a:extLst>
              <a:ext uri="{FF2B5EF4-FFF2-40B4-BE49-F238E27FC236}">
                <a16:creationId xmlns:a16="http://schemas.microsoft.com/office/drawing/2014/main" id="{D9ABCE3D-5645-7419-B80F-E3A2D1266456}"/>
              </a:ext>
            </a:extLst>
          </p:cNvPr>
          <p:cNvSpPr/>
          <p:nvPr/>
        </p:nvSpPr>
        <p:spPr>
          <a:xfrm>
            <a:off x="6394549" y="2191643"/>
            <a:ext cx="2318817" cy="266700"/>
          </a:xfrm>
          <a:prstGeom prst="rect">
            <a:avLst/>
          </a:prstGeom>
          <a:noFill/>
          <a:ln/>
        </p:spPr>
        <p:txBody>
          <a:bodyPr wrap="square" lIns="0" tIns="0" rIns="0" bIns="0" rtlCol="0" anchor="t"/>
          <a:lstStyle/>
          <a:p>
            <a:pPr marL="0" indent="0" algn="l">
              <a:lnSpc>
                <a:spcPts val="2100"/>
              </a:lnSpc>
              <a:spcBef>
                <a:spcPts val="1200"/>
              </a:spcBef>
              <a:spcAft>
                <a:spcPts val="600"/>
              </a:spcAft>
              <a:buNone/>
            </a:pPr>
            <a:r>
              <a:rPr lang="en-US" sz="1500" b="1" dirty="0">
                <a:solidFill>
                  <a:srgbClr val="FFFFFF"/>
                </a:solidFill>
                <a:latin typeface="Georgia" panose="02040502050405020303" pitchFamily="18" charset="0"/>
                <a:ea typeface="Arial" pitchFamily="34" charset="-122"/>
                <a:cs typeface="Arial" pitchFamily="34" charset="-120"/>
              </a:rPr>
              <a:t>Ajouter une classe</a:t>
            </a:r>
            <a:endParaRPr lang="en-US" sz="1500" dirty="0">
              <a:latin typeface="Georgia" panose="02040502050405020303" pitchFamily="18" charset="0"/>
            </a:endParaRPr>
          </a:p>
        </p:txBody>
      </p:sp>
      <p:sp>
        <p:nvSpPr>
          <p:cNvPr id="22" name="Text 20">
            <a:extLst>
              <a:ext uri="{FF2B5EF4-FFF2-40B4-BE49-F238E27FC236}">
                <a16:creationId xmlns:a16="http://schemas.microsoft.com/office/drawing/2014/main" id="{0BE9C1FB-9320-A033-97D4-D8C5BD1A00F0}"/>
              </a:ext>
            </a:extLst>
          </p:cNvPr>
          <p:cNvSpPr/>
          <p:nvPr/>
        </p:nvSpPr>
        <p:spPr>
          <a:xfrm>
            <a:off x="6394549" y="2686943"/>
            <a:ext cx="2318817" cy="371475"/>
          </a:xfrm>
          <a:prstGeom prst="rect">
            <a:avLst/>
          </a:prstGeom>
          <a:noFill/>
          <a:ln/>
        </p:spPr>
        <p:txBody>
          <a:bodyPr wrap="square" lIns="0" tIns="0" rIns="0" bIns="0" rtlCol="0" anchor="t"/>
          <a:lstStyle/>
          <a:p>
            <a:pPr marL="0" indent="0" algn="l">
              <a:lnSpc>
                <a:spcPts val="1463"/>
              </a:lnSpc>
              <a:spcAft>
                <a:spcPts val="1200"/>
              </a:spcAft>
              <a:buNone/>
            </a:pPr>
            <a:r>
              <a:rPr lang="en-US" sz="975" dirty="0">
                <a:solidFill>
                  <a:srgbClr val="FFFFFF">
                    <a:alpha val="85000"/>
                  </a:srgbClr>
                </a:solidFill>
                <a:latin typeface="Georgia" panose="02040502050405020303" pitchFamily="18" charset="0"/>
                <a:ea typeface="Arial" pitchFamily="34" charset="-122"/>
                <a:cs typeface="Arial" pitchFamily="34" charset="-120"/>
              </a:rPr>
              <a:t>Si on utilise une 4ème classe nommée ‘autres” et reprenant quelques photos de reste du dataset, il sera plus aisé dela combiner avec un seuil de confiance afin de laisser un message du style “je ne trouve pas cette race de chien”</a:t>
            </a:r>
            <a:endParaRPr lang="en-US" sz="975" dirty="0">
              <a:latin typeface="Georgia" panose="02040502050405020303" pitchFamily="18" charset="0"/>
            </a:endParaRPr>
          </a:p>
        </p:txBody>
      </p:sp>
      <p:sp>
        <p:nvSpPr>
          <p:cNvPr id="29" name="ZoneTexte 28">
            <a:extLst>
              <a:ext uri="{FF2B5EF4-FFF2-40B4-BE49-F238E27FC236}">
                <a16:creationId xmlns:a16="http://schemas.microsoft.com/office/drawing/2014/main" id="{D55D364D-9A5D-8EF0-9D91-EC030AFD0C5F}"/>
              </a:ext>
            </a:extLst>
          </p:cNvPr>
          <p:cNvSpPr txBox="1"/>
          <p:nvPr/>
        </p:nvSpPr>
        <p:spPr>
          <a:xfrm>
            <a:off x="6499555" y="1601125"/>
            <a:ext cx="4572000" cy="259045"/>
          </a:xfrm>
          <a:prstGeom prst="rect">
            <a:avLst/>
          </a:prstGeom>
          <a:noFill/>
        </p:spPr>
        <p:txBody>
          <a:bodyPr wrap="square">
            <a:spAutoFit/>
          </a:bodyPr>
          <a:lstStyle/>
          <a:p>
            <a:pPr>
              <a:lnSpc>
                <a:spcPts val="1260"/>
              </a:lnSpc>
            </a:pPr>
            <a:r>
              <a:rPr lang="en-US" sz="1200" b="1" dirty="0">
                <a:latin typeface="Georgia" panose="02040502050405020303" pitchFamily="18" charset="0"/>
                <a:cs typeface="Arial" pitchFamily="34" charset="-120"/>
              </a:rPr>
              <a:t>3ème  Solution</a:t>
            </a:r>
            <a:endParaRPr lang="en-US" sz="1200" dirty="0">
              <a:latin typeface="Georgia" panose="02040502050405020303" pitchFamily="18" charset="0"/>
            </a:endParaRPr>
          </a:p>
        </p:txBody>
      </p:sp>
      <p:sp>
        <p:nvSpPr>
          <p:cNvPr id="31" name="ZoneTexte 30">
            <a:extLst>
              <a:ext uri="{FF2B5EF4-FFF2-40B4-BE49-F238E27FC236}">
                <a16:creationId xmlns:a16="http://schemas.microsoft.com/office/drawing/2014/main" id="{70455784-5381-84DA-3671-2CB80661A1DE}"/>
              </a:ext>
            </a:extLst>
          </p:cNvPr>
          <p:cNvSpPr txBox="1"/>
          <p:nvPr/>
        </p:nvSpPr>
        <p:spPr>
          <a:xfrm>
            <a:off x="550311" y="4198399"/>
            <a:ext cx="7898494" cy="646331"/>
          </a:xfrm>
          <a:prstGeom prst="rect">
            <a:avLst/>
          </a:prstGeom>
          <a:noFill/>
        </p:spPr>
        <p:txBody>
          <a:bodyPr wrap="square">
            <a:spAutoFit/>
          </a:bodyPr>
          <a:lstStyle/>
          <a:p>
            <a:pPr algn="ctr">
              <a:buNone/>
            </a:pPr>
            <a:r>
              <a:rPr lang="fr-FR" dirty="0">
                <a:latin typeface="Georgia" panose="02040502050405020303" pitchFamily="18" charset="0"/>
              </a:rPr>
              <a:t>J’ai testé les 3 solutions, mais je ne garde que </a:t>
            </a:r>
          </a:p>
          <a:p>
            <a:pPr algn="ctr">
              <a:buNone/>
            </a:pPr>
            <a:r>
              <a:rPr lang="fr-FR" dirty="0">
                <a:latin typeface="Georgia" panose="02040502050405020303" pitchFamily="18" charset="0"/>
              </a:rPr>
              <a:t>la 3</a:t>
            </a:r>
            <a:r>
              <a:rPr lang="fr-FR" baseline="30000" dirty="0">
                <a:latin typeface="Georgia" panose="02040502050405020303" pitchFamily="18" charset="0"/>
              </a:rPr>
              <a:t>ème</a:t>
            </a:r>
            <a:r>
              <a:rPr lang="fr-FR" dirty="0">
                <a:latin typeface="Georgia" panose="02040502050405020303" pitchFamily="18" charset="0"/>
              </a:rPr>
              <a:t> qui est cohérente avec le besoin du client et simple à mettre en place</a:t>
            </a:r>
          </a:p>
        </p:txBody>
      </p:sp>
    </p:spTree>
    <p:extLst>
      <p:ext uri="{BB962C8B-B14F-4D97-AF65-F5344CB8AC3E}">
        <p14:creationId xmlns:p14="http://schemas.microsoft.com/office/powerpoint/2010/main" val="976168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EF7ED"/>
        </a:solidFill>
        <a:effectLst/>
      </p:bgPr>
    </p:bg>
    <p:spTree>
      <p:nvGrpSpPr>
        <p:cNvPr id="1" name=""/>
        <p:cNvGrpSpPr/>
        <p:nvPr/>
      </p:nvGrpSpPr>
      <p:grpSpPr>
        <a:xfrm>
          <a:off x="0" y="0"/>
          <a:ext cx="0" cy="0"/>
          <a:chOff x="0" y="0"/>
          <a:chExt cx="0" cy="0"/>
        </a:xfrm>
      </p:grpSpPr>
      <p:sp>
        <p:nvSpPr>
          <p:cNvPr id="2" name="Shape 0"/>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latin typeface="Georgia" panose="02040502050405020303" pitchFamily="18" charset="0"/>
            </a:endParaRPr>
          </a:p>
        </p:txBody>
      </p:sp>
      <p:sp>
        <p:nvSpPr>
          <p:cNvPr id="3" name="Text 1"/>
          <p:cNvSpPr/>
          <p:nvPr/>
        </p:nvSpPr>
        <p:spPr>
          <a:xfrm>
            <a:off x="400050" y="228600"/>
            <a:ext cx="7086135" cy="342900"/>
          </a:xfrm>
          <a:prstGeom prst="rect">
            <a:avLst/>
          </a:prstGeom>
          <a:noFill/>
          <a:ln/>
        </p:spPr>
        <p:txBody>
          <a:bodyPr wrap="square" lIns="0" tIns="0" rIns="0" bIns="0" rtlCol="0" anchor="t"/>
          <a:lstStyle/>
          <a:p>
            <a:pPr marL="0" indent="0" algn="l">
              <a:lnSpc>
                <a:spcPts val="2700"/>
              </a:lnSpc>
              <a:buNone/>
            </a:pPr>
            <a:r>
              <a:rPr lang="en-US" sz="2700" b="1" dirty="0">
                <a:solidFill>
                  <a:srgbClr val="1E3A5F"/>
                </a:solidFill>
                <a:latin typeface="Georgia" panose="02040502050405020303" pitchFamily="18" charset="0"/>
                <a:ea typeface="Georgia" pitchFamily="34" charset="-122"/>
                <a:cs typeface="Georgia" pitchFamily="34" charset="-120"/>
              </a:rPr>
              <a:t>Pourquoi le Transfer Learning ?</a:t>
            </a:r>
            <a:endParaRPr lang="en-US" sz="2700" dirty="0">
              <a:latin typeface="Georgia" panose="02040502050405020303" pitchFamily="18" charset="0"/>
            </a:endParaRPr>
          </a:p>
        </p:txBody>
      </p:sp>
      <p:sp>
        <p:nvSpPr>
          <p:cNvPr id="4" name="Text 2"/>
          <p:cNvSpPr/>
          <p:nvPr/>
        </p:nvSpPr>
        <p:spPr>
          <a:xfrm>
            <a:off x="381000" y="1005185"/>
            <a:ext cx="3230910" cy="1125587"/>
          </a:xfrm>
          <a:prstGeom prst="roundRect">
            <a:avLst>
              <a:gd name="adj" fmla="val 10155"/>
            </a:avLst>
          </a:prstGeom>
          <a:solidFill>
            <a:srgbClr val="1E3A5F"/>
          </a:solidFill>
          <a:ln/>
        </p:spPr>
        <p:txBody>
          <a:bodyPr wrap="square" rtlCol="0" anchor="ctr"/>
          <a:lstStyle/>
          <a:p>
            <a:pPr marL="0" indent="0">
              <a:buNone/>
            </a:pPr>
            <a:endParaRPr lang="en-US" dirty="0">
              <a:latin typeface="Georgia" panose="02040502050405020303" pitchFamily="18" charset="0"/>
            </a:endParaRPr>
          </a:p>
        </p:txBody>
      </p:sp>
      <p:sp>
        <p:nvSpPr>
          <p:cNvPr id="5" name="Text 3"/>
          <p:cNvSpPr/>
          <p:nvPr/>
        </p:nvSpPr>
        <p:spPr>
          <a:xfrm>
            <a:off x="504139" y="1157585"/>
            <a:ext cx="2984632" cy="173236"/>
          </a:xfrm>
          <a:prstGeom prst="rect">
            <a:avLst/>
          </a:prstGeom>
          <a:noFill/>
          <a:ln/>
        </p:spPr>
        <p:txBody>
          <a:bodyPr wrap="square" lIns="0" tIns="0" rIns="0" bIns="0" rtlCol="0" anchor="t"/>
          <a:lstStyle/>
          <a:p>
            <a:pPr marL="0" indent="0" algn="ctr">
              <a:lnSpc>
                <a:spcPts val="1365"/>
              </a:lnSpc>
              <a:buNone/>
            </a:pPr>
            <a:r>
              <a:rPr lang="en-US" sz="975" b="1" dirty="0">
                <a:solidFill>
                  <a:srgbClr val="D97706"/>
                </a:solidFill>
                <a:latin typeface="Georgia" panose="02040502050405020303" pitchFamily="18" charset="0"/>
                <a:ea typeface="Arial" pitchFamily="34" charset="-122"/>
                <a:cs typeface="Arial" pitchFamily="34" charset="-120"/>
              </a:rPr>
              <a:t>IMAGENET</a:t>
            </a:r>
            <a:endParaRPr lang="en-US" sz="975" dirty="0">
              <a:latin typeface="Georgia" panose="02040502050405020303" pitchFamily="18" charset="0"/>
            </a:endParaRPr>
          </a:p>
        </p:txBody>
      </p:sp>
      <p:sp>
        <p:nvSpPr>
          <p:cNvPr id="6" name="Text 4"/>
          <p:cNvSpPr/>
          <p:nvPr/>
        </p:nvSpPr>
        <p:spPr>
          <a:xfrm>
            <a:off x="504139" y="1407021"/>
            <a:ext cx="2984632" cy="373261"/>
          </a:xfrm>
          <a:prstGeom prst="rect">
            <a:avLst/>
          </a:prstGeom>
          <a:noFill/>
          <a:ln/>
        </p:spPr>
        <p:txBody>
          <a:bodyPr wrap="square" lIns="0" tIns="0" rIns="0" bIns="0" rtlCol="0" anchor="t"/>
          <a:lstStyle/>
          <a:p>
            <a:pPr marL="0" indent="0" algn="ctr">
              <a:lnSpc>
                <a:spcPts val="2940"/>
              </a:lnSpc>
              <a:spcBef>
                <a:spcPts val="600"/>
              </a:spcBef>
              <a:spcAft>
                <a:spcPts val="300"/>
              </a:spcAft>
              <a:buNone/>
            </a:pPr>
            <a:r>
              <a:rPr lang="en-US" sz="2100" b="1" dirty="0">
                <a:solidFill>
                  <a:srgbClr val="FFFFFF"/>
                </a:solidFill>
                <a:latin typeface="Georgia" panose="02040502050405020303" pitchFamily="18" charset="0"/>
                <a:ea typeface="Arial" pitchFamily="34" charset="-122"/>
                <a:cs typeface="Arial" pitchFamily="34" charset="-120"/>
              </a:rPr>
              <a:t>14 millions</a:t>
            </a:r>
            <a:endParaRPr lang="en-US" sz="2100" dirty="0">
              <a:latin typeface="Georgia" panose="02040502050405020303" pitchFamily="18" charset="0"/>
            </a:endParaRPr>
          </a:p>
        </p:txBody>
      </p:sp>
      <p:sp>
        <p:nvSpPr>
          <p:cNvPr id="7" name="Text 5"/>
          <p:cNvSpPr/>
          <p:nvPr/>
        </p:nvSpPr>
        <p:spPr>
          <a:xfrm>
            <a:off x="504139" y="1818382"/>
            <a:ext cx="2984632" cy="159990"/>
          </a:xfrm>
          <a:prstGeom prst="rect">
            <a:avLst/>
          </a:prstGeom>
          <a:noFill/>
          <a:ln/>
        </p:spPr>
        <p:txBody>
          <a:bodyPr wrap="square" lIns="0" tIns="0" rIns="0" bIns="0" rtlCol="0" anchor="t"/>
          <a:lstStyle/>
          <a:p>
            <a:pPr marL="0" indent="0" algn="ctr">
              <a:lnSpc>
                <a:spcPts val="1260"/>
              </a:lnSpc>
              <a:buNone/>
            </a:pPr>
            <a:r>
              <a:rPr lang="en-US" sz="1050" dirty="0">
                <a:solidFill>
                  <a:srgbClr val="FFFFFF">
                    <a:alpha val="70000"/>
                  </a:srgbClr>
                </a:solidFill>
                <a:latin typeface="Georgia" panose="02040502050405020303" pitchFamily="18" charset="0"/>
                <a:ea typeface="Arial" pitchFamily="34" charset="-122"/>
                <a:cs typeface="Arial" pitchFamily="34" charset="-120"/>
              </a:rPr>
              <a:t>d'images d'entraînement</a:t>
            </a:r>
            <a:endParaRPr lang="en-US" sz="1050" dirty="0">
              <a:latin typeface="Georgia" panose="02040502050405020303" pitchFamily="18" charset="0"/>
            </a:endParaRPr>
          </a:p>
        </p:txBody>
      </p:sp>
      <p:sp>
        <p:nvSpPr>
          <p:cNvPr id="8" name="Text 6"/>
          <p:cNvSpPr/>
          <p:nvPr/>
        </p:nvSpPr>
        <p:spPr>
          <a:xfrm>
            <a:off x="348691" y="2283172"/>
            <a:ext cx="3295528" cy="319980"/>
          </a:xfrm>
          <a:prstGeom prst="rect">
            <a:avLst/>
          </a:prstGeom>
          <a:noFill/>
          <a:ln/>
        </p:spPr>
        <p:txBody>
          <a:bodyPr wrap="square" lIns="0" tIns="0" rIns="0" bIns="0" rtlCol="0" anchor="t"/>
          <a:lstStyle/>
          <a:p>
            <a:pPr marL="0" indent="0" algn="ctr">
              <a:lnSpc>
                <a:spcPts val="2520"/>
              </a:lnSpc>
              <a:spcBef>
                <a:spcPts val="300"/>
              </a:spcBef>
              <a:spcAft>
                <a:spcPts val="300"/>
              </a:spcAft>
              <a:buNone/>
            </a:pPr>
            <a:r>
              <a:rPr lang="en-US" sz="1800" dirty="0">
                <a:solidFill>
                  <a:srgbClr val="D97706"/>
                </a:solidFill>
                <a:latin typeface="Georgia" panose="02040502050405020303" pitchFamily="18" charset="0"/>
                <a:ea typeface="Arial" pitchFamily="34" charset="-122"/>
                <a:cs typeface="Arial" pitchFamily="34" charset="-120"/>
              </a:rPr>
              <a:t>↓</a:t>
            </a:r>
            <a:endParaRPr lang="en-US" sz="1800" dirty="0">
              <a:latin typeface="Georgia" panose="02040502050405020303" pitchFamily="18" charset="0"/>
            </a:endParaRPr>
          </a:p>
        </p:txBody>
      </p:sp>
      <p:sp>
        <p:nvSpPr>
          <p:cNvPr id="9" name="Text 7"/>
          <p:cNvSpPr/>
          <p:nvPr/>
        </p:nvSpPr>
        <p:spPr>
          <a:xfrm>
            <a:off x="442570" y="2772817"/>
            <a:ext cx="3230910" cy="740866"/>
          </a:xfrm>
          <a:prstGeom prst="roundRect">
            <a:avLst>
              <a:gd name="adj" fmla="val 15428"/>
            </a:avLst>
          </a:prstGeom>
          <a:solidFill>
            <a:srgbClr val="059669"/>
          </a:solidFill>
          <a:ln/>
        </p:spPr>
        <p:txBody>
          <a:bodyPr wrap="square" rtlCol="0" anchor="ctr"/>
          <a:lstStyle/>
          <a:p>
            <a:pPr marL="0" indent="0">
              <a:buNone/>
            </a:pPr>
            <a:endParaRPr lang="en-US" dirty="0">
              <a:latin typeface="Georgia" panose="02040502050405020303" pitchFamily="18" charset="0"/>
            </a:endParaRPr>
          </a:p>
        </p:txBody>
      </p:sp>
      <p:sp>
        <p:nvSpPr>
          <p:cNvPr id="10" name="Text 8"/>
          <p:cNvSpPr/>
          <p:nvPr/>
        </p:nvSpPr>
        <p:spPr>
          <a:xfrm>
            <a:off x="504139" y="2907953"/>
            <a:ext cx="2984632" cy="173236"/>
          </a:xfrm>
          <a:prstGeom prst="rect">
            <a:avLst/>
          </a:prstGeom>
          <a:noFill/>
          <a:ln/>
        </p:spPr>
        <p:txBody>
          <a:bodyPr wrap="square" lIns="0" tIns="0" rIns="0" bIns="0" rtlCol="0" anchor="t"/>
          <a:lstStyle/>
          <a:p>
            <a:pPr marL="0" indent="0" algn="ctr">
              <a:lnSpc>
                <a:spcPts val="1365"/>
              </a:lnSpc>
              <a:buNone/>
            </a:pPr>
            <a:r>
              <a:rPr lang="en-US" sz="1400" b="1" dirty="0">
                <a:solidFill>
                  <a:srgbClr val="FFFFFF"/>
                </a:solidFill>
                <a:latin typeface="Georgia" panose="02040502050405020303" pitchFamily="18" charset="0"/>
                <a:ea typeface="Arial" pitchFamily="34" charset="-122"/>
                <a:cs typeface="Arial" pitchFamily="34" charset="-120"/>
              </a:rPr>
              <a:t>VGG16 et MobileNetV2</a:t>
            </a:r>
            <a:endParaRPr lang="en-US" sz="1400" dirty="0">
              <a:latin typeface="Georgia" panose="02040502050405020303" pitchFamily="18" charset="0"/>
            </a:endParaRPr>
          </a:p>
        </p:txBody>
      </p:sp>
      <p:sp>
        <p:nvSpPr>
          <p:cNvPr id="11" name="Text 9"/>
          <p:cNvSpPr/>
          <p:nvPr/>
        </p:nvSpPr>
        <p:spPr>
          <a:xfrm>
            <a:off x="504139" y="3157389"/>
            <a:ext cx="2984632" cy="186630"/>
          </a:xfrm>
          <a:prstGeom prst="rect">
            <a:avLst/>
          </a:prstGeom>
          <a:noFill/>
          <a:ln/>
        </p:spPr>
        <p:txBody>
          <a:bodyPr wrap="square" lIns="0" tIns="0" rIns="0" bIns="0" rtlCol="0" anchor="t"/>
          <a:lstStyle/>
          <a:p>
            <a:pPr marL="0" indent="0" algn="ctr">
              <a:lnSpc>
                <a:spcPts val="1470"/>
              </a:lnSpc>
              <a:spcBef>
                <a:spcPts val="600"/>
              </a:spcBef>
              <a:buNone/>
            </a:pPr>
            <a:r>
              <a:rPr lang="en-US" sz="1050" dirty="0">
                <a:solidFill>
                  <a:srgbClr val="FFFFFF"/>
                </a:solidFill>
                <a:latin typeface="Georgia" panose="02040502050405020303" pitchFamily="18" charset="0"/>
                <a:ea typeface="Arial" pitchFamily="34" charset="-122"/>
                <a:cs typeface="Arial" pitchFamily="34" charset="-120"/>
              </a:rPr>
              <a:t>Connaît déjà les formes, textures, contours</a:t>
            </a:r>
            <a:endParaRPr lang="en-US" sz="1050" dirty="0">
              <a:latin typeface="Georgia" panose="02040502050405020303" pitchFamily="18" charset="0"/>
            </a:endParaRPr>
          </a:p>
        </p:txBody>
      </p:sp>
      <p:sp>
        <p:nvSpPr>
          <p:cNvPr id="12" name="Text 10"/>
          <p:cNvSpPr/>
          <p:nvPr/>
        </p:nvSpPr>
        <p:spPr>
          <a:xfrm>
            <a:off x="348691" y="3648819"/>
            <a:ext cx="3295528" cy="319980"/>
          </a:xfrm>
          <a:prstGeom prst="rect">
            <a:avLst/>
          </a:prstGeom>
          <a:noFill/>
          <a:ln/>
        </p:spPr>
        <p:txBody>
          <a:bodyPr wrap="square" lIns="0" tIns="0" rIns="0" bIns="0" rtlCol="0" anchor="t"/>
          <a:lstStyle/>
          <a:p>
            <a:pPr marL="0" indent="0" algn="ctr">
              <a:lnSpc>
                <a:spcPts val="2520"/>
              </a:lnSpc>
              <a:spcBef>
                <a:spcPts val="300"/>
              </a:spcBef>
              <a:spcAft>
                <a:spcPts val="300"/>
              </a:spcAft>
              <a:buNone/>
            </a:pPr>
            <a:r>
              <a:rPr lang="en-US" sz="1800" dirty="0">
                <a:solidFill>
                  <a:srgbClr val="D97706"/>
                </a:solidFill>
                <a:latin typeface="Georgia" panose="02040502050405020303" pitchFamily="18" charset="0"/>
                <a:ea typeface="Arial" pitchFamily="34" charset="-122"/>
                <a:cs typeface="Arial" pitchFamily="34" charset="-120"/>
              </a:rPr>
              <a:t>↓</a:t>
            </a:r>
            <a:endParaRPr lang="en-US" sz="1800" dirty="0">
              <a:latin typeface="Georgia" panose="02040502050405020303" pitchFamily="18" charset="0"/>
            </a:endParaRPr>
          </a:p>
        </p:txBody>
      </p:sp>
      <p:sp>
        <p:nvSpPr>
          <p:cNvPr id="13" name="Text 11"/>
          <p:cNvSpPr/>
          <p:nvPr/>
        </p:nvSpPr>
        <p:spPr>
          <a:xfrm>
            <a:off x="381000" y="4121200"/>
            <a:ext cx="3230910" cy="740866"/>
          </a:xfrm>
          <a:prstGeom prst="roundRect">
            <a:avLst>
              <a:gd name="adj" fmla="val 15428"/>
            </a:avLst>
          </a:prstGeom>
          <a:solidFill>
            <a:srgbClr val="D97706"/>
          </a:solidFill>
          <a:ln/>
        </p:spPr>
        <p:txBody>
          <a:bodyPr wrap="square" rtlCol="0" anchor="ctr"/>
          <a:lstStyle/>
          <a:p>
            <a:pPr marL="0" indent="0">
              <a:buNone/>
            </a:pPr>
            <a:endParaRPr lang="en-US" dirty="0"/>
          </a:p>
        </p:txBody>
      </p:sp>
      <p:sp>
        <p:nvSpPr>
          <p:cNvPr id="14" name="Text 12"/>
          <p:cNvSpPr/>
          <p:nvPr/>
        </p:nvSpPr>
        <p:spPr>
          <a:xfrm>
            <a:off x="504139" y="4273600"/>
            <a:ext cx="2984632" cy="173236"/>
          </a:xfrm>
          <a:prstGeom prst="rect">
            <a:avLst/>
          </a:prstGeom>
          <a:noFill/>
          <a:ln/>
        </p:spPr>
        <p:txBody>
          <a:bodyPr wrap="square" lIns="0" tIns="0" rIns="0" bIns="0" rtlCol="0" anchor="t"/>
          <a:lstStyle/>
          <a:p>
            <a:pPr marL="0" indent="0" algn="ctr">
              <a:lnSpc>
                <a:spcPts val="1365"/>
              </a:lnSpc>
              <a:buNone/>
            </a:pPr>
            <a:r>
              <a:rPr lang="en-US" sz="975" b="1" dirty="0">
                <a:solidFill>
                  <a:srgbClr val="FFFFFF"/>
                </a:solidFill>
                <a:latin typeface="Georgia" panose="02040502050405020303" pitchFamily="18" charset="0"/>
                <a:ea typeface="Arial" pitchFamily="34" charset="-122"/>
                <a:cs typeface="Arial" pitchFamily="34" charset="-120"/>
              </a:rPr>
              <a:t>NOTRE MODÈLE</a:t>
            </a:r>
            <a:endParaRPr lang="en-US" sz="975" dirty="0">
              <a:latin typeface="Georgia" panose="02040502050405020303" pitchFamily="18" charset="0"/>
            </a:endParaRPr>
          </a:p>
        </p:txBody>
      </p:sp>
      <p:sp>
        <p:nvSpPr>
          <p:cNvPr id="15" name="Text 13"/>
          <p:cNvSpPr/>
          <p:nvPr/>
        </p:nvSpPr>
        <p:spPr>
          <a:xfrm>
            <a:off x="504139" y="4523036"/>
            <a:ext cx="2984632" cy="186630"/>
          </a:xfrm>
          <a:prstGeom prst="rect">
            <a:avLst/>
          </a:prstGeom>
          <a:noFill/>
          <a:ln/>
        </p:spPr>
        <p:txBody>
          <a:bodyPr wrap="square" lIns="0" tIns="0" rIns="0" bIns="0" rtlCol="0" anchor="t"/>
          <a:lstStyle/>
          <a:p>
            <a:pPr marL="0" indent="0" algn="ctr">
              <a:lnSpc>
                <a:spcPts val="1470"/>
              </a:lnSpc>
              <a:spcBef>
                <a:spcPts val="600"/>
              </a:spcBef>
              <a:buNone/>
            </a:pPr>
            <a:r>
              <a:rPr lang="en-US" sz="1050" dirty="0">
                <a:solidFill>
                  <a:srgbClr val="FFFFFF"/>
                </a:solidFill>
                <a:latin typeface="Georgia" panose="02040502050405020303" pitchFamily="18" charset="0"/>
                <a:ea typeface="Arial" pitchFamily="34" charset="-122"/>
                <a:cs typeface="Arial" pitchFamily="34" charset="-120"/>
              </a:rPr>
              <a:t>Adapté pour 3 races de chiens</a:t>
            </a:r>
            <a:endParaRPr lang="en-US" sz="1050" dirty="0">
              <a:latin typeface="Georgia" panose="02040502050405020303" pitchFamily="18" charset="0"/>
            </a:endParaRPr>
          </a:p>
        </p:txBody>
      </p:sp>
      <p:sp>
        <p:nvSpPr>
          <p:cNvPr id="16" name="Text 14"/>
          <p:cNvSpPr/>
          <p:nvPr/>
        </p:nvSpPr>
        <p:spPr>
          <a:xfrm>
            <a:off x="3916710" y="1303437"/>
            <a:ext cx="4846290" cy="729407"/>
          </a:xfrm>
          <a:prstGeom prst="roundRect">
            <a:avLst>
              <a:gd name="adj" fmla="val 13059"/>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7" name="Text 15"/>
          <p:cNvSpPr/>
          <p:nvPr/>
        </p:nvSpPr>
        <p:spPr>
          <a:xfrm>
            <a:off x="4069110" y="1455837"/>
            <a:ext cx="4632320" cy="213271"/>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Georgia" panose="02040502050405020303" pitchFamily="18" charset="0"/>
                <a:ea typeface="Arial" pitchFamily="34" charset="-122"/>
                <a:cs typeface="Arial" pitchFamily="34" charset="-120"/>
              </a:rPr>
              <a:t>Meilleure précision d’identification</a:t>
            </a:r>
            <a:endParaRPr lang="en-US" sz="1200" dirty="0">
              <a:latin typeface="Georgia" panose="02040502050405020303" pitchFamily="18" charset="0"/>
            </a:endParaRPr>
          </a:p>
        </p:txBody>
      </p:sp>
      <p:sp>
        <p:nvSpPr>
          <p:cNvPr id="18" name="Text 16"/>
          <p:cNvSpPr/>
          <p:nvPr/>
        </p:nvSpPr>
        <p:spPr>
          <a:xfrm>
            <a:off x="4069110" y="1707207"/>
            <a:ext cx="4632320" cy="173236"/>
          </a:xfrm>
          <a:prstGeom prst="rect">
            <a:avLst/>
          </a:prstGeom>
          <a:noFill/>
          <a:ln/>
        </p:spPr>
        <p:txBody>
          <a:bodyPr wrap="square" lIns="0" tIns="0" rIns="0" bIns="0" rtlCol="0" anchor="t"/>
          <a:lstStyle/>
          <a:p>
            <a:pPr marL="0" indent="0" algn="l">
              <a:lnSpc>
                <a:spcPts val="1365"/>
              </a:lnSpc>
              <a:spcBef>
                <a:spcPts val="300"/>
              </a:spcBef>
              <a:buNone/>
            </a:pPr>
            <a:r>
              <a:rPr lang="en-US" sz="975" dirty="0">
                <a:solidFill>
                  <a:srgbClr val="78716C"/>
                </a:solidFill>
                <a:latin typeface="Georgia" panose="02040502050405020303" pitchFamily="18" charset="0"/>
                <a:ea typeface="Arial" pitchFamily="34" charset="-122"/>
                <a:cs typeface="Arial" pitchFamily="34" charset="-120"/>
              </a:rPr>
              <a:t>94% vs 53% pour le CNN maison</a:t>
            </a:r>
            <a:endParaRPr lang="en-US" sz="975" dirty="0">
              <a:latin typeface="Georgia" panose="02040502050405020303" pitchFamily="18" charset="0"/>
            </a:endParaRPr>
          </a:p>
        </p:txBody>
      </p:sp>
      <p:sp>
        <p:nvSpPr>
          <p:cNvPr id="19" name="Text 17"/>
          <p:cNvSpPr/>
          <p:nvPr/>
        </p:nvSpPr>
        <p:spPr>
          <a:xfrm>
            <a:off x="3916710" y="2147143"/>
            <a:ext cx="4846290" cy="729407"/>
          </a:xfrm>
          <a:prstGeom prst="roundRect">
            <a:avLst>
              <a:gd name="adj" fmla="val 13059"/>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0" name="Text 18"/>
          <p:cNvSpPr/>
          <p:nvPr/>
        </p:nvSpPr>
        <p:spPr>
          <a:xfrm>
            <a:off x="4069110" y="2299543"/>
            <a:ext cx="4632320" cy="213271"/>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Georgia" panose="02040502050405020303" pitchFamily="18" charset="0"/>
                <a:ea typeface="Arial" pitchFamily="34" charset="-122"/>
                <a:cs typeface="Arial" pitchFamily="34" charset="-120"/>
              </a:rPr>
              <a:t> Moins de données nécessaires</a:t>
            </a:r>
            <a:endParaRPr lang="en-US" sz="1200" dirty="0">
              <a:latin typeface="Georgia" panose="02040502050405020303" pitchFamily="18" charset="0"/>
            </a:endParaRPr>
          </a:p>
        </p:txBody>
      </p:sp>
      <p:sp>
        <p:nvSpPr>
          <p:cNvPr id="21" name="Text 19"/>
          <p:cNvSpPr/>
          <p:nvPr/>
        </p:nvSpPr>
        <p:spPr>
          <a:xfrm>
            <a:off x="4069110" y="2550914"/>
            <a:ext cx="4632320" cy="173236"/>
          </a:xfrm>
          <a:prstGeom prst="rect">
            <a:avLst/>
          </a:prstGeom>
          <a:noFill/>
          <a:ln/>
        </p:spPr>
        <p:txBody>
          <a:bodyPr wrap="square" lIns="0" tIns="0" rIns="0" bIns="0" rtlCol="0" anchor="t"/>
          <a:lstStyle/>
          <a:p>
            <a:pPr marL="0" indent="0" algn="l">
              <a:lnSpc>
                <a:spcPts val="1365"/>
              </a:lnSpc>
              <a:spcBef>
                <a:spcPts val="300"/>
              </a:spcBef>
              <a:buNone/>
            </a:pPr>
            <a:r>
              <a:rPr lang="en-US" sz="975" dirty="0">
                <a:solidFill>
                  <a:srgbClr val="78716C"/>
                </a:solidFill>
                <a:latin typeface="Georgia" panose="02040502050405020303" pitchFamily="18" charset="0"/>
                <a:ea typeface="Arial" pitchFamily="34" charset="-122"/>
                <a:cs typeface="Arial" pitchFamily="34" charset="-120"/>
              </a:rPr>
              <a:t>Fonctionne avec seulement plus de 400 images</a:t>
            </a:r>
            <a:endParaRPr lang="en-US" sz="975" dirty="0">
              <a:latin typeface="Georgia" panose="02040502050405020303" pitchFamily="18" charset="0"/>
            </a:endParaRPr>
          </a:p>
        </p:txBody>
      </p:sp>
      <p:sp>
        <p:nvSpPr>
          <p:cNvPr id="22" name="Text 20"/>
          <p:cNvSpPr/>
          <p:nvPr/>
        </p:nvSpPr>
        <p:spPr>
          <a:xfrm>
            <a:off x="3916710" y="2990850"/>
            <a:ext cx="4846290" cy="729407"/>
          </a:xfrm>
          <a:prstGeom prst="roundRect">
            <a:avLst>
              <a:gd name="adj" fmla="val 13059"/>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3" name="Text 21"/>
          <p:cNvSpPr/>
          <p:nvPr/>
        </p:nvSpPr>
        <p:spPr>
          <a:xfrm>
            <a:off x="4069110" y="3143250"/>
            <a:ext cx="4632320" cy="213271"/>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Georgia" panose="02040502050405020303" pitchFamily="18" charset="0"/>
                <a:ea typeface="Arial" pitchFamily="34" charset="-122"/>
                <a:cs typeface="Arial" pitchFamily="34" charset="-120"/>
              </a:rPr>
              <a:t> Facilement extensible</a:t>
            </a:r>
            <a:endParaRPr lang="en-US" sz="1200" dirty="0">
              <a:latin typeface="Georgia" panose="02040502050405020303" pitchFamily="18" charset="0"/>
            </a:endParaRPr>
          </a:p>
        </p:txBody>
      </p:sp>
      <p:sp>
        <p:nvSpPr>
          <p:cNvPr id="24" name="Text 22"/>
          <p:cNvSpPr/>
          <p:nvPr/>
        </p:nvSpPr>
        <p:spPr>
          <a:xfrm>
            <a:off x="4069110" y="3394621"/>
            <a:ext cx="4632320" cy="173236"/>
          </a:xfrm>
          <a:prstGeom prst="rect">
            <a:avLst/>
          </a:prstGeom>
          <a:noFill/>
          <a:ln/>
        </p:spPr>
        <p:txBody>
          <a:bodyPr wrap="square" lIns="0" tIns="0" rIns="0" bIns="0" rtlCol="0" anchor="t"/>
          <a:lstStyle/>
          <a:p>
            <a:pPr marL="0" indent="0" algn="l">
              <a:lnSpc>
                <a:spcPts val="1365"/>
              </a:lnSpc>
              <a:spcBef>
                <a:spcPts val="300"/>
              </a:spcBef>
              <a:buNone/>
            </a:pPr>
            <a:r>
              <a:rPr lang="en-US" sz="975" dirty="0">
                <a:solidFill>
                  <a:srgbClr val="78716C"/>
                </a:solidFill>
                <a:latin typeface="Georgia" panose="02040502050405020303" pitchFamily="18" charset="0"/>
                <a:ea typeface="Arial" pitchFamily="34" charset="-122"/>
                <a:cs typeface="Arial" pitchFamily="34" charset="-120"/>
              </a:rPr>
              <a:t>Simple d'ajouter de nouvelles races</a:t>
            </a:r>
            <a:endParaRPr lang="en-US" sz="975" dirty="0">
              <a:latin typeface="Georgia" panose="02040502050405020303" pitchFamily="18" charset="0"/>
            </a:endParaRPr>
          </a:p>
        </p:txBody>
      </p:sp>
      <p:sp>
        <p:nvSpPr>
          <p:cNvPr id="25" name="Text 23"/>
          <p:cNvSpPr/>
          <p:nvPr/>
        </p:nvSpPr>
        <p:spPr>
          <a:xfrm>
            <a:off x="3916710" y="3834557"/>
            <a:ext cx="4846290" cy="729407"/>
          </a:xfrm>
          <a:prstGeom prst="roundRect">
            <a:avLst>
              <a:gd name="adj" fmla="val 13059"/>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6" name="Text 24"/>
          <p:cNvSpPr/>
          <p:nvPr/>
        </p:nvSpPr>
        <p:spPr>
          <a:xfrm>
            <a:off x="4069110" y="3986957"/>
            <a:ext cx="4632320" cy="213271"/>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Georgia" panose="02040502050405020303" pitchFamily="18" charset="0"/>
                <a:ea typeface="Arial" pitchFamily="34" charset="-122"/>
                <a:cs typeface="Arial" pitchFamily="34" charset="-120"/>
              </a:rPr>
              <a:t> Features pré-apprises</a:t>
            </a:r>
            <a:endParaRPr lang="en-US" sz="1200" dirty="0">
              <a:latin typeface="Georgia" panose="02040502050405020303" pitchFamily="18" charset="0"/>
            </a:endParaRPr>
          </a:p>
        </p:txBody>
      </p:sp>
      <p:sp>
        <p:nvSpPr>
          <p:cNvPr id="27" name="Text 25"/>
          <p:cNvSpPr/>
          <p:nvPr/>
        </p:nvSpPr>
        <p:spPr>
          <a:xfrm>
            <a:off x="4069110" y="4238327"/>
            <a:ext cx="4632320" cy="173236"/>
          </a:xfrm>
          <a:prstGeom prst="rect">
            <a:avLst/>
          </a:prstGeom>
          <a:noFill/>
          <a:ln/>
        </p:spPr>
        <p:txBody>
          <a:bodyPr wrap="square" lIns="0" tIns="0" rIns="0" bIns="0" rtlCol="0" anchor="t"/>
          <a:lstStyle/>
          <a:p>
            <a:pPr marL="0" indent="0" algn="l">
              <a:lnSpc>
                <a:spcPts val="1365"/>
              </a:lnSpc>
              <a:spcBef>
                <a:spcPts val="300"/>
              </a:spcBef>
              <a:buNone/>
            </a:pPr>
            <a:r>
              <a:rPr lang="en-US" sz="975" dirty="0">
                <a:solidFill>
                  <a:srgbClr val="78716C"/>
                </a:solidFill>
                <a:latin typeface="Georgia" panose="02040502050405020303" pitchFamily="18" charset="0"/>
                <a:ea typeface="Arial" pitchFamily="34" charset="-122"/>
                <a:cs typeface="Arial" pitchFamily="34" charset="-120"/>
              </a:rPr>
              <a:t>Détecte déjà les formes et textures utiles</a:t>
            </a:r>
            <a:endParaRPr lang="en-US" sz="975" dirty="0">
              <a:latin typeface="Georgia" panose="020405020504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EF7ED"/>
        </a:solidFill>
        <a:effectLst/>
      </p:bgPr>
    </p:bg>
    <p:spTree>
      <p:nvGrpSpPr>
        <p:cNvPr id="1" name=""/>
        <p:cNvGrpSpPr/>
        <p:nvPr/>
      </p:nvGrpSpPr>
      <p:grpSpPr>
        <a:xfrm>
          <a:off x="0" y="0"/>
          <a:ext cx="0" cy="0"/>
          <a:chOff x="0" y="0"/>
          <a:chExt cx="0" cy="0"/>
        </a:xfrm>
      </p:grpSpPr>
      <p:sp>
        <p:nvSpPr>
          <p:cNvPr id="2" name="Shape 0"/>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latin typeface="Georgia" panose="02040502050405020303" pitchFamily="18" charset="0"/>
            </a:endParaRPr>
          </a:p>
        </p:txBody>
      </p:sp>
      <p:sp>
        <p:nvSpPr>
          <p:cNvPr id="3" name="Text 1"/>
          <p:cNvSpPr/>
          <p:nvPr/>
        </p:nvSpPr>
        <p:spPr>
          <a:xfrm>
            <a:off x="400050" y="228600"/>
            <a:ext cx="6877979" cy="342900"/>
          </a:xfrm>
          <a:prstGeom prst="rect">
            <a:avLst/>
          </a:prstGeom>
          <a:noFill/>
          <a:ln/>
        </p:spPr>
        <p:txBody>
          <a:bodyPr wrap="square" lIns="0" tIns="0" rIns="0" bIns="0" rtlCol="0" anchor="t"/>
          <a:lstStyle/>
          <a:p>
            <a:pPr marL="0" indent="0" algn="l">
              <a:lnSpc>
                <a:spcPts val="2700"/>
              </a:lnSpc>
              <a:buNone/>
            </a:pPr>
            <a:r>
              <a:rPr lang="en-US" sz="2700" b="1" dirty="0">
                <a:solidFill>
                  <a:srgbClr val="1E3A5F"/>
                </a:solidFill>
                <a:latin typeface="Georgia" panose="02040502050405020303" pitchFamily="18" charset="0"/>
                <a:ea typeface="Georgia" pitchFamily="34" charset="-122"/>
                <a:cs typeface="Georgia" pitchFamily="34" charset="-120"/>
              </a:rPr>
              <a:t>L'Application Web – Via Streamlit</a:t>
            </a:r>
            <a:endParaRPr lang="en-US" sz="2700" dirty="0">
              <a:latin typeface="Georgia" panose="02040502050405020303" pitchFamily="18" charset="0"/>
            </a:endParaRPr>
          </a:p>
        </p:txBody>
      </p:sp>
      <p:sp>
        <p:nvSpPr>
          <p:cNvPr id="12" name="Text 10"/>
          <p:cNvSpPr/>
          <p:nvPr/>
        </p:nvSpPr>
        <p:spPr>
          <a:xfrm>
            <a:off x="280157" y="1225451"/>
            <a:ext cx="4111934" cy="239911"/>
          </a:xfrm>
          <a:prstGeom prst="rect">
            <a:avLst/>
          </a:prstGeom>
          <a:noFill/>
          <a:ln/>
        </p:spPr>
        <p:txBody>
          <a:bodyPr wrap="square" lIns="0" tIns="0" rIns="0" bIns="0" rtlCol="0" anchor="t"/>
          <a:lstStyle/>
          <a:p>
            <a:pPr marL="0" indent="0" algn="l">
              <a:lnSpc>
                <a:spcPts val="1890"/>
              </a:lnSpc>
              <a:spcAft>
                <a:spcPts val="300"/>
              </a:spcAft>
              <a:buNone/>
            </a:pPr>
            <a:r>
              <a:rPr lang="en-US" b="1" dirty="0">
                <a:solidFill>
                  <a:srgbClr val="1E3A5F"/>
                </a:solidFill>
                <a:latin typeface="Georgia" panose="02040502050405020303" pitchFamily="18" charset="0"/>
                <a:ea typeface="Arial" pitchFamily="34" charset="-122"/>
                <a:cs typeface="Arial" pitchFamily="34" charset="-120"/>
              </a:rPr>
              <a:t>Fonctionnalités</a:t>
            </a:r>
            <a:endParaRPr lang="en-US" dirty="0">
              <a:latin typeface="Georgia" panose="02040502050405020303" pitchFamily="18" charset="0"/>
            </a:endParaRPr>
          </a:p>
        </p:txBody>
      </p:sp>
      <p:sp>
        <p:nvSpPr>
          <p:cNvPr id="13" name="Text 11"/>
          <p:cNvSpPr/>
          <p:nvPr/>
        </p:nvSpPr>
        <p:spPr>
          <a:xfrm>
            <a:off x="280157" y="1636812"/>
            <a:ext cx="4031307" cy="651272"/>
          </a:xfrm>
          <a:prstGeom prst="roundRect">
            <a:avLst>
              <a:gd name="adj" fmla="val 14625"/>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4" name="Text 12"/>
          <p:cNvSpPr/>
          <p:nvPr/>
        </p:nvSpPr>
        <p:spPr>
          <a:xfrm>
            <a:off x="413507" y="1770162"/>
            <a:ext cx="38399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D97706"/>
                </a:solidFill>
                <a:latin typeface="Georgia" panose="02040502050405020303" pitchFamily="18" charset="0"/>
                <a:ea typeface="Arial" pitchFamily="34" charset="-122"/>
                <a:cs typeface="Arial" pitchFamily="34" charset="-120"/>
              </a:rPr>
              <a:t> UPLOAD SIMPLE</a:t>
            </a:r>
            <a:endParaRPr lang="en-US" sz="975" dirty="0">
              <a:latin typeface="Georgia" panose="02040502050405020303" pitchFamily="18" charset="0"/>
            </a:endParaRPr>
          </a:p>
        </p:txBody>
      </p:sp>
      <p:sp>
        <p:nvSpPr>
          <p:cNvPr id="15" name="Text 13"/>
          <p:cNvSpPr/>
          <p:nvPr/>
        </p:nvSpPr>
        <p:spPr>
          <a:xfrm>
            <a:off x="413507" y="1981498"/>
            <a:ext cx="3839900" cy="173236"/>
          </a:xfrm>
          <a:prstGeom prst="rect">
            <a:avLst/>
          </a:prstGeom>
          <a:noFill/>
          <a:ln/>
        </p:spPr>
        <p:txBody>
          <a:bodyPr wrap="square" lIns="0" tIns="0" rIns="0" bIns="0" rtlCol="0" anchor="t"/>
          <a:lstStyle/>
          <a:p>
            <a:pPr marL="0" indent="0" algn="l">
              <a:lnSpc>
                <a:spcPts val="1365"/>
              </a:lnSpc>
              <a:buNone/>
            </a:pPr>
            <a:r>
              <a:rPr lang="en-US" sz="975" dirty="0">
                <a:solidFill>
                  <a:srgbClr val="1C1917"/>
                </a:solidFill>
                <a:latin typeface="Georgia" panose="02040502050405020303" pitchFamily="18" charset="0"/>
                <a:ea typeface="Arial" pitchFamily="34" charset="-122"/>
                <a:cs typeface="Arial" pitchFamily="34" charset="-120"/>
              </a:rPr>
              <a:t>Glisser-déposer ou sélection JPG/PNG</a:t>
            </a:r>
            <a:endParaRPr lang="en-US" sz="975" dirty="0">
              <a:latin typeface="Georgia" panose="02040502050405020303" pitchFamily="18" charset="0"/>
            </a:endParaRPr>
          </a:p>
        </p:txBody>
      </p:sp>
      <p:sp>
        <p:nvSpPr>
          <p:cNvPr id="16" name="Text 14"/>
          <p:cNvSpPr/>
          <p:nvPr/>
        </p:nvSpPr>
        <p:spPr>
          <a:xfrm>
            <a:off x="280157" y="2421434"/>
            <a:ext cx="4031307" cy="651272"/>
          </a:xfrm>
          <a:prstGeom prst="roundRect">
            <a:avLst>
              <a:gd name="adj" fmla="val 14625"/>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7" name="Text 15"/>
          <p:cNvSpPr/>
          <p:nvPr/>
        </p:nvSpPr>
        <p:spPr>
          <a:xfrm>
            <a:off x="413507" y="2554784"/>
            <a:ext cx="38399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D97706"/>
                </a:solidFill>
                <a:latin typeface="Georgia" panose="02040502050405020303" pitchFamily="18" charset="0"/>
                <a:ea typeface="Arial" pitchFamily="34" charset="-122"/>
                <a:cs typeface="Arial" pitchFamily="34" charset="-120"/>
              </a:rPr>
              <a:t> PRÉDICTION INSTANTANÉE</a:t>
            </a:r>
            <a:endParaRPr lang="en-US" sz="975" dirty="0">
              <a:latin typeface="Georgia" panose="02040502050405020303" pitchFamily="18" charset="0"/>
            </a:endParaRPr>
          </a:p>
        </p:txBody>
      </p:sp>
      <p:sp>
        <p:nvSpPr>
          <p:cNvPr id="18" name="Text 16"/>
          <p:cNvSpPr/>
          <p:nvPr/>
        </p:nvSpPr>
        <p:spPr>
          <a:xfrm>
            <a:off x="413507" y="2766120"/>
            <a:ext cx="3839900" cy="173236"/>
          </a:xfrm>
          <a:prstGeom prst="rect">
            <a:avLst/>
          </a:prstGeom>
          <a:noFill/>
          <a:ln/>
        </p:spPr>
        <p:txBody>
          <a:bodyPr wrap="square" lIns="0" tIns="0" rIns="0" bIns="0" rtlCol="0" anchor="t"/>
          <a:lstStyle/>
          <a:p>
            <a:pPr marL="0" indent="0" algn="l">
              <a:lnSpc>
                <a:spcPts val="1365"/>
              </a:lnSpc>
              <a:buNone/>
            </a:pPr>
            <a:r>
              <a:rPr lang="en-US" sz="975" dirty="0">
                <a:solidFill>
                  <a:srgbClr val="1C1917"/>
                </a:solidFill>
                <a:latin typeface="Georgia" panose="02040502050405020303" pitchFamily="18" charset="0"/>
                <a:ea typeface="Arial" pitchFamily="34" charset="-122"/>
                <a:cs typeface="Arial" pitchFamily="34" charset="-120"/>
              </a:rPr>
              <a:t>Résultat en moins de 2 secondes</a:t>
            </a:r>
            <a:endParaRPr lang="en-US" sz="975" dirty="0">
              <a:latin typeface="Georgia" panose="02040502050405020303" pitchFamily="18" charset="0"/>
            </a:endParaRPr>
          </a:p>
        </p:txBody>
      </p:sp>
      <p:sp>
        <p:nvSpPr>
          <p:cNvPr id="19" name="Text 17"/>
          <p:cNvSpPr/>
          <p:nvPr/>
        </p:nvSpPr>
        <p:spPr>
          <a:xfrm>
            <a:off x="280157" y="3206055"/>
            <a:ext cx="4031307" cy="651272"/>
          </a:xfrm>
          <a:prstGeom prst="roundRect">
            <a:avLst>
              <a:gd name="adj" fmla="val 14625"/>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0" name="Text 18"/>
          <p:cNvSpPr/>
          <p:nvPr/>
        </p:nvSpPr>
        <p:spPr>
          <a:xfrm>
            <a:off x="413507" y="3339405"/>
            <a:ext cx="38399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D97706"/>
                </a:solidFill>
                <a:latin typeface="Georgia" panose="02040502050405020303" pitchFamily="18" charset="0"/>
                <a:ea typeface="Arial" pitchFamily="34" charset="-122"/>
                <a:cs typeface="Arial" pitchFamily="34" charset="-120"/>
              </a:rPr>
              <a:t> SCORE DE CONFIANCE</a:t>
            </a:r>
            <a:endParaRPr lang="en-US" sz="975" dirty="0">
              <a:latin typeface="Georgia" panose="02040502050405020303" pitchFamily="18" charset="0"/>
            </a:endParaRPr>
          </a:p>
        </p:txBody>
      </p:sp>
      <p:sp>
        <p:nvSpPr>
          <p:cNvPr id="21" name="Text 19"/>
          <p:cNvSpPr/>
          <p:nvPr/>
        </p:nvSpPr>
        <p:spPr>
          <a:xfrm>
            <a:off x="413507" y="3550741"/>
            <a:ext cx="3839900" cy="173236"/>
          </a:xfrm>
          <a:prstGeom prst="rect">
            <a:avLst/>
          </a:prstGeom>
          <a:noFill/>
          <a:ln/>
        </p:spPr>
        <p:txBody>
          <a:bodyPr wrap="square" lIns="0" tIns="0" rIns="0" bIns="0" rtlCol="0" anchor="t"/>
          <a:lstStyle/>
          <a:p>
            <a:pPr marL="0" indent="0" algn="l">
              <a:lnSpc>
                <a:spcPts val="1365"/>
              </a:lnSpc>
              <a:buNone/>
            </a:pPr>
            <a:r>
              <a:rPr lang="en-US" sz="975" dirty="0">
                <a:solidFill>
                  <a:srgbClr val="1C1917"/>
                </a:solidFill>
                <a:latin typeface="Georgia" panose="02040502050405020303" pitchFamily="18" charset="0"/>
                <a:ea typeface="Arial" pitchFamily="34" charset="-122"/>
                <a:cs typeface="Arial" pitchFamily="34" charset="-120"/>
              </a:rPr>
              <a:t>Pourcentage de certitude affiché</a:t>
            </a:r>
            <a:endParaRPr lang="en-US" sz="975" dirty="0">
              <a:latin typeface="Georgia" panose="02040502050405020303" pitchFamily="18" charset="0"/>
            </a:endParaRPr>
          </a:p>
        </p:txBody>
      </p:sp>
      <p:sp>
        <p:nvSpPr>
          <p:cNvPr id="22" name="Text 20"/>
          <p:cNvSpPr/>
          <p:nvPr/>
        </p:nvSpPr>
        <p:spPr>
          <a:xfrm>
            <a:off x="280157" y="3990677"/>
            <a:ext cx="4031307" cy="651272"/>
          </a:xfrm>
          <a:prstGeom prst="roundRect">
            <a:avLst>
              <a:gd name="adj" fmla="val 14625"/>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3" name="Text 21"/>
          <p:cNvSpPr/>
          <p:nvPr/>
        </p:nvSpPr>
        <p:spPr>
          <a:xfrm>
            <a:off x="413507" y="4124027"/>
            <a:ext cx="38399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D97706"/>
                </a:solidFill>
                <a:latin typeface="Georgia" panose="02040502050405020303" pitchFamily="18" charset="0"/>
                <a:ea typeface="Arial" pitchFamily="34" charset="-122"/>
                <a:cs typeface="Arial" pitchFamily="34" charset="-120"/>
              </a:rPr>
              <a:t> ALERTE SI INCERTAIN</a:t>
            </a:r>
            <a:endParaRPr lang="en-US" sz="975" dirty="0">
              <a:latin typeface="Georgia" panose="02040502050405020303" pitchFamily="18" charset="0"/>
            </a:endParaRPr>
          </a:p>
        </p:txBody>
      </p:sp>
      <p:sp>
        <p:nvSpPr>
          <p:cNvPr id="24" name="Text 22"/>
          <p:cNvSpPr/>
          <p:nvPr/>
        </p:nvSpPr>
        <p:spPr>
          <a:xfrm>
            <a:off x="413507" y="4335363"/>
            <a:ext cx="3839900" cy="173236"/>
          </a:xfrm>
          <a:prstGeom prst="rect">
            <a:avLst/>
          </a:prstGeom>
          <a:noFill/>
          <a:ln/>
        </p:spPr>
        <p:txBody>
          <a:bodyPr wrap="square" lIns="0" tIns="0" rIns="0" bIns="0" rtlCol="0" anchor="t"/>
          <a:lstStyle/>
          <a:p>
            <a:pPr marL="0" indent="0" algn="l">
              <a:lnSpc>
                <a:spcPts val="1365"/>
              </a:lnSpc>
              <a:buNone/>
            </a:pPr>
            <a:r>
              <a:rPr lang="en-US" sz="975" dirty="0">
                <a:solidFill>
                  <a:srgbClr val="1C1917"/>
                </a:solidFill>
                <a:latin typeface="Georgia" panose="02040502050405020303" pitchFamily="18" charset="0"/>
                <a:ea typeface="Arial" pitchFamily="34" charset="-122"/>
                <a:cs typeface="Arial" pitchFamily="34" charset="-120"/>
              </a:rPr>
              <a:t>Message si confiance inférieure à 70%</a:t>
            </a:r>
            <a:endParaRPr lang="en-US" sz="975" dirty="0">
              <a:latin typeface="Georgia" panose="02040502050405020303" pitchFamily="18" charset="0"/>
            </a:endParaRPr>
          </a:p>
        </p:txBody>
      </p:sp>
      <p:pic>
        <p:nvPicPr>
          <p:cNvPr id="29" name="Image 28">
            <a:extLst>
              <a:ext uri="{FF2B5EF4-FFF2-40B4-BE49-F238E27FC236}">
                <a16:creationId xmlns:a16="http://schemas.microsoft.com/office/drawing/2014/main" id="{AC2C3F8F-8A4A-2C79-D2E0-4C02358C3E0C}"/>
              </a:ext>
            </a:extLst>
          </p:cNvPr>
          <p:cNvPicPr>
            <a:picLocks noChangeAspect="1"/>
          </p:cNvPicPr>
          <p:nvPr/>
        </p:nvPicPr>
        <p:blipFill>
          <a:blip r:embed="rId3"/>
          <a:stretch>
            <a:fillRect/>
          </a:stretch>
        </p:blipFill>
        <p:spPr>
          <a:xfrm>
            <a:off x="5031427" y="1657753"/>
            <a:ext cx="3790905" cy="18929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706189-2A89-F3F1-E75B-A55B76FBFCD1}"/>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4A5D6127-FE10-3B6B-2989-E0733DE84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a:extLst>
              <a:ext uri="{FF2B5EF4-FFF2-40B4-BE49-F238E27FC236}">
                <a16:creationId xmlns:a16="http://schemas.microsoft.com/office/drawing/2014/main" id="{F6C85ACC-0563-636C-A778-E51B74419A27}"/>
              </a:ext>
            </a:extLst>
          </p:cNvPr>
          <p:cNvSpPr/>
          <p:nvPr/>
        </p:nvSpPr>
        <p:spPr>
          <a:xfrm>
            <a:off x="833210" y="1030079"/>
            <a:ext cx="3027251" cy="1790700"/>
          </a:xfrm>
          <a:prstGeom prst="rect">
            <a:avLst/>
          </a:prstGeom>
        </p:spPr>
        <p:txBody>
          <a:bodyPr vert="horz" lIns="91440" tIns="45720" rIns="91440" bIns="45720" rtlCol="0" anchor="t">
            <a:normAutofit/>
          </a:bodyPr>
          <a:lstStyle/>
          <a:p>
            <a:pPr marL="0" indent="0">
              <a:lnSpc>
                <a:spcPct val="90000"/>
              </a:lnSpc>
              <a:spcBef>
                <a:spcPct val="0"/>
              </a:spcBef>
              <a:spcAft>
                <a:spcPts val="600"/>
              </a:spcAft>
            </a:pPr>
            <a:r>
              <a:rPr lang="en-US" sz="4100" b="1" kern="1200" dirty="0">
                <a:solidFill>
                  <a:schemeClr val="accent1">
                    <a:lumMod val="50000"/>
                  </a:schemeClr>
                </a:solidFill>
                <a:latin typeface="+mj-lt"/>
                <a:ea typeface="+mj-ea"/>
                <a:cs typeface="+mj-cs"/>
              </a:rPr>
              <a:t>Screens App</a:t>
            </a:r>
            <a:endParaRPr lang="en-US" sz="4100" kern="1200" dirty="0">
              <a:solidFill>
                <a:schemeClr val="accent1">
                  <a:lumMod val="50000"/>
                </a:schemeClr>
              </a:solidFill>
              <a:latin typeface="+mj-lt"/>
              <a:ea typeface="+mj-ea"/>
              <a:cs typeface="+mj-cs"/>
            </a:endParaRPr>
          </a:p>
        </p:txBody>
      </p:sp>
      <p:grpSp>
        <p:nvGrpSpPr>
          <p:cNvPr id="57" name="Group 48">
            <a:extLst>
              <a:ext uri="{FF2B5EF4-FFF2-40B4-BE49-F238E27FC236}">
                <a16:creationId xmlns:a16="http://schemas.microsoft.com/office/drawing/2014/main" id="{FECC6C2C-BBF2-08E3-2D23-E5CBDEF0CD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137143"/>
            <a:ext cx="548639" cy="505095"/>
            <a:chOff x="3940602" y="308034"/>
            <a:chExt cx="2116791" cy="3428999"/>
          </a:xfrm>
          <a:solidFill>
            <a:schemeClr val="accent4"/>
          </a:solidFill>
        </p:grpSpPr>
        <p:sp>
          <p:nvSpPr>
            <p:cNvPr id="50" name="Rectangle 49">
              <a:extLst>
                <a:ext uri="{FF2B5EF4-FFF2-40B4-BE49-F238E27FC236}">
                  <a16:creationId xmlns:a16="http://schemas.microsoft.com/office/drawing/2014/main" id="{9803063E-B7E7-DE1F-2CF0-9084E96048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F3FFDBF-D4F1-E240-DC06-EE85CB8633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F990712C-A384-9E1A-A751-4D7E8B5536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C22AFB1E-BBF0-CF4B-3231-F681C7BE9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509799"/>
            <a:ext cx="4507025" cy="406791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A392448-E538-6E34-0E32-DA82E941B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5676" y="4766304"/>
            <a:ext cx="4505706" cy="342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a:extLst>
              <a:ext uri="{FF2B5EF4-FFF2-40B4-BE49-F238E27FC236}">
                <a16:creationId xmlns:a16="http://schemas.microsoft.com/office/drawing/2014/main" id="{FA3962BE-27C5-8D70-9B38-9AE0EC7C7250}"/>
              </a:ext>
            </a:extLst>
          </p:cNvPr>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p>
        </p:txBody>
      </p:sp>
      <p:sp>
        <p:nvSpPr>
          <p:cNvPr id="29" name="Text 5">
            <a:extLst>
              <a:ext uri="{FF2B5EF4-FFF2-40B4-BE49-F238E27FC236}">
                <a16:creationId xmlns:a16="http://schemas.microsoft.com/office/drawing/2014/main" id="{79F868C8-2537-8CFD-30AC-623F30C4288A}"/>
              </a:ext>
            </a:extLst>
          </p:cNvPr>
          <p:cNvSpPr/>
          <p:nvPr/>
        </p:nvSpPr>
        <p:spPr>
          <a:xfrm>
            <a:off x="952533" y="1707652"/>
            <a:ext cx="2878280" cy="437530"/>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Arial" pitchFamily="34" charset="0"/>
                <a:ea typeface="Arial" pitchFamily="34" charset="-122"/>
                <a:cs typeface="Arial" pitchFamily="34" charset="-120"/>
              </a:rPr>
              <a:t>Cas où l’animal est pas reconnu par rapport à la base de photos entraînées</a:t>
            </a:r>
            <a:endParaRPr lang="en-US" sz="1200" dirty="0"/>
          </a:p>
        </p:txBody>
      </p:sp>
      <p:pic>
        <p:nvPicPr>
          <p:cNvPr id="5" name="Image 4">
            <a:extLst>
              <a:ext uri="{FF2B5EF4-FFF2-40B4-BE49-F238E27FC236}">
                <a16:creationId xmlns:a16="http://schemas.microsoft.com/office/drawing/2014/main" id="{A5BCE651-9CF5-9804-1A1E-D5CA369C1B17}"/>
              </a:ext>
            </a:extLst>
          </p:cNvPr>
          <p:cNvPicPr>
            <a:picLocks noChangeAspect="1"/>
          </p:cNvPicPr>
          <p:nvPr/>
        </p:nvPicPr>
        <p:blipFill>
          <a:blip r:embed="rId3"/>
          <a:stretch>
            <a:fillRect/>
          </a:stretch>
        </p:blipFill>
        <p:spPr>
          <a:xfrm>
            <a:off x="4624061" y="19797"/>
            <a:ext cx="3743425" cy="4486439"/>
          </a:xfrm>
          <a:prstGeom prst="rect">
            <a:avLst/>
          </a:prstGeom>
        </p:spPr>
      </p:pic>
    </p:spTree>
    <p:extLst>
      <p:ext uri="{BB962C8B-B14F-4D97-AF65-F5344CB8AC3E}">
        <p14:creationId xmlns:p14="http://schemas.microsoft.com/office/powerpoint/2010/main" val="553620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281069-5873-B798-B537-2A7E3416836B}"/>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a:extLst>
              <a:ext uri="{FF2B5EF4-FFF2-40B4-BE49-F238E27FC236}">
                <a16:creationId xmlns:a16="http://schemas.microsoft.com/office/drawing/2014/main" id="{94AFDEAF-0291-A2E1-78C8-4642A67ED534}"/>
              </a:ext>
            </a:extLst>
          </p:cNvPr>
          <p:cNvSpPr/>
          <p:nvPr/>
        </p:nvSpPr>
        <p:spPr>
          <a:xfrm>
            <a:off x="792435" y="1214306"/>
            <a:ext cx="3027251" cy="1790700"/>
          </a:xfrm>
          <a:prstGeom prst="rect">
            <a:avLst/>
          </a:prstGeom>
        </p:spPr>
        <p:txBody>
          <a:bodyPr vert="horz" lIns="91440" tIns="45720" rIns="91440" bIns="45720" rtlCol="0" anchor="t">
            <a:normAutofit/>
          </a:bodyPr>
          <a:lstStyle/>
          <a:p>
            <a:pPr marL="0" indent="0">
              <a:lnSpc>
                <a:spcPct val="90000"/>
              </a:lnSpc>
              <a:spcBef>
                <a:spcPct val="0"/>
              </a:spcBef>
              <a:spcAft>
                <a:spcPts val="600"/>
              </a:spcAft>
            </a:pPr>
            <a:r>
              <a:rPr lang="en-US" sz="4100" b="1" kern="1200" dirty="0">
                <a:solidFill>
                  <a:schemeClr val="accent1">
                    <a:lumMod val="50000"/>
                  </a:schemeClr>
                </a:solidFill>
                <a:latin typeface="+mj-lt"/>
                <a:ea typeface="+mj-ea"/>
                <a:cs typeface="+mj-cs"/>
              </a:rPr>
              <a:t>Screens App</a:t>
            </a:r>
            <a:endParaRPr lang="en-US" sz="4100" kern="1200" dirty="0">
              <a:solidFill>
                <a:schemeClr val="accent1">
                  <a:lumMod val="50000"/>
                </a:schemeClr>
              </a:solidFill>
              <a:latin typeface="+mj-lt"/>
              <a:ea typeface="+mj-ea"/>
              <a:cs typeface="+mj-cs"/>
            </a:endParaRPr>
          </a:p>
        </p:txBody>
      </p:sp>
      <p:sp>
        <p:nvSpPr>
          <p:cNvPr id="29" name="Text 5">
            <a:extLst>
              <a:ext uri="{FF2B5EF4-FFF2-40B4-BE49-F238E27FC236}">
                <a16:creationId xmlns:a16="http://schemas.microsoft.com/office/drawing/2014/main" id="{C8193BB7-A140-0D98-5990-36CAE693D2B5}"/>
              </a:ext>
            </a:extLst>
          </p:cNvPr>
          <p:cNvSpPr/>
          <p:nvPr/>
        </p:nvSpPr>
        <p:spPr>
          <a:xfrm>
            <a:off x="817495" y="1294037"/>
            <a:ext cx="3027250" cy="1282387"/>
          </a:xfrm>
          <a:prstGeom prst="rect">
            <a:avLst/>
          </a:prstGeom>
        </p:spPr>
        <p:txBody>
          <a:bodyPr vert="horz" lIns="91440" tIns="45720" rIns="91440" bIns="45720" rtlCol="0" anchor="b">
            <a:normAutofit/>
          </a:bodyPr>
          <a:lstStyle/>
          <a:p>
            <a:pPr>
              <a:lnSpc>
                <a:spcPct val="90000"/>
              </a:lnSpc>
              <a:spcBef>
                <a:spcPts val="1000"/>
              </a:spcBef>
            </a:pPr>
            <a:r>
              <a:rPr lang="en-US" sz="1500" b="1" kern="1200" dirty="0">
                <a:solidFill>
                  <a:schemeClr val="accent1">
                    <a:lumMod val="50000"/>
                  </a:schemeClr>
                </a:solidFill>
                <a:latin typeface="+mn-lt"/>
                <a:ea typeface="+mn-ea"/>
                <a:cs typeface="+mn-cs"/>
              </a:rPr>
              <a:t>Cas où l’animal n’est pas reconnu par rapport à la base de photos entraînées</a:t>
            </a:r>
            <a:endParaRPr lang="en-US" sz="1500" kern="1200" dirty="0">
              <a:solidFill>
                <a:schemeClr val="accent1">
                  <a:lumMod val="50000"/>
                </a:schemeClr>
              </a:solidFill>
              <a:latin typeface="+mn-lt"/>
              <a:ea typeface="+mn-ea"/>
              <a:cs typeface="+mn-cs"/>
            </a:endParaRPr>
          </a:p>
        </p:txBody>
      </p:sp>
      <p:grpSp>
        <p:nvGrpSpPr>
          <p:cNvPr id="73" name="Group 6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238744"/>
            <a:ext cx="548639" cy="505095"/>
            <a:chOff x="3940602" y="308034"/>
            <a:chExt cx="2116791" cy="3428999"/>
          </a:xfrm>
          <a:solidFill>
            <a:schemeClr val="accent4"/>
          </a:solidFill>
        </p:grpSpPr>
        <p:sp>
          <p:nvSpPr>
            <p:cNvPr id="66" name="Rectangle 6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293914"/>
            <a:ext cx="4507025" cy="451280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texte, Race de chien, capture d’écran, mammifère&#10;&#10;Le contenu généré par l’IA peut être incorrect.">
            <a:extLst>
              <a:ext uri="{FF2B5EF4-FFF2-40B4-BE49-F238E27FC236}">
                <a16:creationId xmlns:a16="http://schemas.microsoft.com/office/drawing/2014/main" id="{B2A75ABE-7B28-C18D-49FB-18BE541079E1}"/>
              </a:ext>
            </a:extLst>
          </p:cNvPr>
          <p:cNvPicPr>
            <a:picLocks noChangeAspect="1"/>
          </p:cNvPicPr>
          <p:nvPr/>
        </p:nvPicPr>
        <p:blipFill>
          <a:blip r:embed="rId3"/>
          <a:stretch>
            <a:fillRect/>
          </a:stretch>
        </p:blipFill>
        <p:spPr>
          <a:xfrm>
            <a:off x="5062602" y="500046"/>
            <a:ext cx="2910533" cy="4099343"/>
          </a:xfrm>
          <a:prstGeom prst="rect">
            <a:avLst/>
          </a:prstGeom>
        </p:spPr>
      </p:pic>
      <p:sp>
        <p:nvSpPr>
          <p:cNvPr id="2" name="Shape 0">
            <a:extLst>
              <a:ext uri="{FF2B5EF4-FFF2-40B4-BE49-F238E27FC236}">
                <a16:creationId xmlns:a16="http://schemas.microsoft.com/office/drawing/2014/main" id="{3D431BE9-317C-00AE-2816-336C3545DF63}"/>
              </a:ext>
            </a:extLst>
          </p:cNvPr>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p>
        </p:txBody>
      </p:sp>
    </p:spTree>
    <p:extLst>
      <p:ext uri="{BB962C8B-B14F-4D97-AF65-F5344CB8AC3E}">
        <p14:creationId xmlns:p14="http://schemas.microsoft.com/office/powerpoint/2010/main" val="1481995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EF7ED"/>
        </a:solidFill>
        <a:effectLst/>
      </p:bgPr>
    </p:bg>
    <p:spTree>
      <p:nvGrpSpPr>
        <p:cNvPr id="1" name=""/>
        <p:cNvGrpSpPr/>
        <p:nvPr/>
      </p:nvGrpSpPr>
      <p:grpSpPr>
        <a:xfrm>
          <a:off x="0" y="0"/>
          <a:ext cx="0" cy="0"/>
          <a:chOff x="0" y="0"/>
          <a:chExt cx="0" cy="0"/>
        </a:xfrm>
      </p:grpSpPr>
      <p:sp>
        <p:nvSpPr>
          <p:cNvPr id="2" name="Shape 0"/>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p>
        </p:txBody>
      </p:sp>
      <p:sp>
        <p:nvSpPr>
          <p:cNvPr id="3" name="Text 1"/>
          <p:cNvSpPr/>
          <p:nvPr/>
        </p:nvSpPr>
        <p:spPr>
          <a:xfrm>
            <a:off x="400050" y="228600"/>
            <a:ext cx="4371975" cy="342900"/>
          </a:xfrm>
          <a:prstGeom prst="rect">
            <a:avLst/>
          </a:prstGeom>
          <a:noFill/>
          <a:ln/>
        </p:spPr>
        <p:txBody>
          <a:bodyPr wrap="square" lIns="0" tIns="0" rIns="0" bIns="0" rtlCol="0" anchor="t"/>
          <a:lstStyle/>
          <a:p>
            <a:pPr marL="0" indent="0" algn="l">
              <a:lnSpc>
                <a:spcPts val="2700"/>
              </a:lnSpc>
              <a:buNone/>
            </a:pPr>
            <a:r>
              <a:rPr lang="en-US" sz="2700" b="1" dirty="0">
                <a:solidFill>
                  <a:srgbClr val="1E3A5F"/>
                </a:solidFill>
                <a:latin typeface="Georgia" pitchFamily="34" charset="0"/>
                <a:ea typeface="Georgia" pitchFamily="34" charset="-122"/>
                <a:cs typeface="Georgia" pitchFamily="34" charset="-120"/>
              </a:rPr>
              <a:t>Déploiement en Production</a:t>
            </a:r>
            <a:endParaRPr lang="en-US" sz="2700" dirty="0"/>
          </a:p>
        </p:txBody>
      </p:sp>
      <p:sp>
        <p:nvSpPr>
          <p:cNvPr id="4" name="Text 2"/>
          <p:cNvSpPr/>
          <p:nvPr/>
        </p:nvSpPr>
        <p:spPr>
          <a:xfrm>
            <a:off x="381000" y="1353741"/>
            <a:ext cx="457200" cy="457200"/>
          </a:xfrm>
          <a:prstGeom prst="roundRect">
            <a:avLst>
              <a:gd name="adj" fmla="val 200000"/>
            </a:avLst>
          </a:prstGeom>
          <a:solidFill>
            <a:srgbClr val="1E3A5F"/>
          </a:solidFill>
          <a:ln/>
        </p:spPr>
        <p:txBody>
          <a:bodyPr wrap="square" rtlCol="0" anchor="ctr"/>
          <a:lstStyle/>
          <a:p>
            <a:pPr marL="0" indent="0">
              <a:buNone/>
            </a:pPr>
            <a:endParaRPr lang="en-US" dirty="0"/>
          </a:p>
        </p:txBody>
      </p:sp>
      <p:sp>
        <p:nvSpPr>
          <p:cNvPr id="5" name="Text 3"/>
          <p:cNvSpPr/>
          <p:nvPr/>
        </p:nvSpPr>
        <p:spPr>
          <a:xfrm>
            <a:off x="376428" y="1353741"/>
            <a:ext cx="466344" cy="457200"/>
          </a:xfrm>
          <a:prstGeom prst="rect">
            <a:avLst/>
          </a:prstGeom>
          <a:noFill/>
          <a:ln/>
        </p:spPr>
        <p:txBody>
          <a:bodyPr wrap="square" lIns="0" tIns="0" rIns="0" bIns="0" rtlCol="0" anchor="t"/>
          <a:lstStyle/>
          <a:p>
            <a:pPr marL="0" indent="0" algn="ctr">
              <a:lnSpc>
                <a:spcPts val="3600"/>
              </a:lnSpc>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028700" y="1208187"/>
            <a:ext cx="7734300" cy="748457"/>
          </a:xfrm>
          <a:prstGeom prst="roundRect">
            <a:avLst>
              <a:gd name="adj" fmla="val 12726"/>
            </a:avLst>
          </a:prstGeom>
          <a:solidFill>
            <a:srgbClr val="FFFFFF"/>
          </a:solidFill>
          <a:ln/>
        </p:spPr>
        <p:txBody>
          <a:bodyPr wrap="square" rtlCol="0" anchor="ctr"/>
          <a:lstStyle/>
          <a:p>
            <a:pPr marL="0" indent="0">
              <a:buNone/>
            </a:pPr>
            <a:endParaRPr lang="en-US" dirty="0"/>
          </a:p>
        </p:txBody>
      </p:sp>
      <p:sp>
        <p:nvSpPr>
          <p:cNvPr id="7" name="Text 5"/>
          <p:cNvSpPr/>
          <p:nvPr/>
        </p:nvSpPr>
        <p:spPr>
          <a:xfrm>
            <a:off x="1181100" y="1360587"/>
            <a:ext cx="7578090" cy="213271"/>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Arial" pitchFamily="34" charset="0"/>
                <a:ea typeface="Arial" pitchFamily="34" charset="-122"/>
                <a:cs typeface="Arial" pitchFamily="34" charset="-120"/>
              </a:rPr>
              <a:t>Installer les dépendances</a:t>
            </a:r>
            <a:endParaRPr lang="en-US" sz="1200" dirty="0"/>
          </a:p>
        </p:txBody>
      </p:sp>
      <p:sp>
        <p:nvSpPr>
          <p:cNvPr id="8" name="Text 6"/>
          <p:cNvSpPr/>
          <p:nvPr/>
        </p:nvSpPr>
        <p:spPr>
          <a:xfrm>
            <a:off x="1181100" y="1631007"/>
            <a:ext cx="7578090" cy="173236"/>
          </a:xfrm>
          <a:prstGeom prst="rect">
            <a:avLst/>
          </a:prstGeom>
          <a:noFill/>
          <a:ln/>
        </p:spPr>
        <p:txBody>
          <a:bodyPr wrap="square" lIns="0" tIns="0" rIns="0" bIns="0" rtlCol="0" anchor="t"/>
          <a:lstStyle/>
          <a:p>
            <a:pPr>
              <a:lnSpc>
                <a:spcPts val="1365"/>
              </a:lnSpc>
              <a:spcBef>
                <a:spcPts val="450"/>
              </a:spcBef>
            </a:pPr>
            <a:r>
              <a:rPr lang="en-US" sz="975" dirty="0">
                <a:solidFill>
                  <a:srgbClr val="78716C"/>
                </a:solidFill>
                <a:latin typeface="monospace" pitchFamily="34" charset="0"/>
                <a:ea typeface="monospace" pitchFamily="34" charset="-122"/>
                <a:cs typeface="monospace" pitchFamily="34" charset="-120"/>
              </a:rPr>
              <a:t>pip install streamlit tensorflow pillow ou plus simplement </a:t>
            </a:r>
            <a:r>
              <a:rPr lang="en-US" sz="975" b="1" dirty="0">
                <a:solidFill>
                  <a:srgbClr val="78716C"/>
                </a:solidFill>
                <a:latin typeface="monospace" pitchFamily="34" charset="0"/>
                <a:ea typeface="monospace" pitchFamily="34" charset="-122"/>
                <a:cs typeface="monospace" pitchFamily="34" charset="-120"/>
              </a:rPr>
              <a:t>pip install -r requirements.txt</a:t>
            </a:r>
            <a:endParaRPr lang="en-US" sz="975" b="1" dirty="0"/>
          </a:p>
        </p:txBody>
      </p:sp>
      <p:sp>
        <p:nvSpPr>
          <p:cNvPr id="9" name="Text 7"/>
          <p:cNvSpPr/>
          <p:nvPr/>
        </p:nvSpPr>
        <p:spPr>
          <a:xfrm>
            <a:off x="381000" y="2254597"/>
            <a:ext cx="457200" cy="457200"/>
          </a:xfrm>
          <a:prstGeom prst="roundRect">
            <a:avLst>
              <a:gd name="adj" fmla="val 200000"/>
            </a:avLst>
          </a:prstGeom>
          <a:solidFill>
            <a:srgbClr val="1E3A5F"/>
          </a:solidFill>
          <a:ln/>
        </p:spPr>
        <p:txBody>
          <a:bodyPr wrap="square" rtlCol="0" anchor="ctr"/>
          <a:lstStyle/>
          <a:p>
            <a:pPr marL="0" indent="0">
              <a:buNone/>
            </a:pPr>
            <a:endParaRPr lang="en-US" dirty="0"/>
          </a:p>
        </p:txBody>
      </p:sp>
      <p:sp>
        <p:nvSpPr>
          <p:cNvPr id="10" name="Text 8"/>
          <p:cNvSpPr/>
          <p:nvPr/>
        </p:nvSpPr>
        <p:spPr>
          <a:xfrm>
            <a:off x="376428" y="2254597"/>
            <a:ext cx="466344" cy="457200"/>
          </a:xfrm>
          <a:prstGeom prst="rect">
            <a:avLst/>
          </a:prstGeom>
          <a:noFill/>
          <a:ln/>
        </p:spPr>
        <p:txBody>
          <a:bodyPr wrap="square" lIns="0" tIns="0" rIns="0" bIns="0" rtlCol="0" anchor="t"/>
          <a:lstStyle/>
          <a:p>
            <a:pPr marL="0" indent="0" algn="ctr">
              <a:lnSpc>
                <a:spcPts val="3600"/>
              </a:lnSpc>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028700" y="2109043"/>
            <a:ext cx="7734300" cy="748457"/>
          </a:xfrm>
          <a:prstGeom prst="roundRect">
            <a:avLst>
              <a:gd name="adj" fmla="val 12726"/>
            </a:avLst>
          </a:prstGeom>
          <a:solidFill>
            <a:srgbClr val="FFFFFF"/>
          </a:solidFill>
          <a:ln/>
        </p:spPr>
        <p:txBody>
          <a:bodyPr wrap="square" rtlCol="0" anchor="ctr"/>
          <a:lstStyle/>
          <a:p>
            <a:pPr marL="0" indent="0">
              <a:buNone/>
            </a:pPr>
            <a:endParaRPr lang="en-US" dirty="0"/>
          </a:p>
        </p:txBody>
      </p:sp>
      <p:sp>
        <p:nvSpPr>
          <p:cNvPr id="12" name="Text 10"/>
          <p:cNvSpPr/>
          <p:nvPr/>
        </p:nvSpPr>
        <p:spPr>
          <a:xfrm>
            <a:off x="1181100" y="2261443"/>
            <a:ext cx="7578090" cy="213271"/>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Arial" pitchFamily="34" charset="0"/>
                <a:ea typeface="Arial" pitchFamily="34" charset="-122"/>
                <a:cs typeface="Arial" pitchFamily="34" charset="-120"/>
              </a:rPr>
              <a:t>Copier les fichiers dans un dossier</a:t>
            </a:r>
            <a:endParaRPr lang="en-US" sz="1200" dirty="0"/>
          </a:p>
        </p:txBody>
      </p:sp>
      <p:sp>
        <p:nvSpPr>
          <p:cNvPr id="13" name="Text 11"/>
          <p:cNvSpPr/>
          <p:nvPr/>
        </p:nvSpPr>
        <p:spPr>
          <a:xfrm>
            <a:off x="1181100" y="2531864"/>
            <a:ext cx="7578090" cy="173236"/>
          </a:xfrm>
          <a:prstGeom prst="rect">
            <a:avLst/>
          </a:prstGeom>
          <a:noFill/>
          <a:ln/>
        </p:spPr>
        <p:txBody>
          <a:bodyPr wrap="square" lIns="0" tIns="0" rIns="0" bIns="0" rtlCol="0" anchor="t"/>
          <a:lstStyle/>
          <a:p>
            <a:pPr marL="0" indent="0" algn="l">
              <a:lnSpc>
                <a:spcPts val="1365"/>
              </a:lnSpc>
              <a:spcBef>
                <a:spcPts val="450"/>
              </a:spcBef>
              <a:buNone/>
            </a:pPr>
            <a:r>
              <a:rPr lang="en-US" sz="975" dirty="0">
                <a:solidFill>
                  <a:srgbClr val="78716C"/>
                </a:solidFill>
                <a:latin typeface="Arial" pitchFamily="34" charset="0"/>
                <a:ea typeface="Arial" pitchFamily="34" charset="-122"/>
                <a:cs typeface="Arial" pitchFamily="34" charset="-120"/>
              </a:rPr>
              <a:t>app.py + model_transfer_learning.keras + dog_labels.pkl</a:t>
            </a:r>
            <a:endParaRPr lang="en-US" sz="975" dirty="0"/>
          </a:p>
        </p:txBody>
      </p:sp>
      <p:sp>
        <p:nvSpPr>
          <p:cNvPr id="14" name="Text 12"/>
          <p:cNvSpPr/>
          <p:nvPr/>
        </p:nvSpPr>
        <p:spPr>
          <a:xfrm>
            <a:off x="381000" y="3155454"/>
            <a:ext cx="457200" cy="457200"/>
          </a:xfrm>
          <a:prstGeom prst="roundRect">
            <a:avLst>
              <a:gd name="adj" fmla="val 200000"/>
            </a:avLst>
          </a:prstGeom>
          <a:solidFill>
            <a:srgbClr val="1E3A5F"/>
          </a:solidFill>
          <a:ln/>
        </p:spPr>
        <p:txBody>
          <a:bodyPr wrap="square" rtlCol="0" anchor="ctr"/>
          <a:lstStyle/>
          <a:p>
            <a:pPr marL="0" indent="0">
              <a:buNone/>
            </a:pPr>
            <a:endParaRPr lang="en-US" dirty="0"/>
          </a:p>
        </p:txBody>
      </p:sp>
      <p:sp>
        <p:nvSpPr>
          <p:cNvPr id="15" name="Text 13"/>
          <p:cNvSpPr/>
          <p:nvPr/>
        </p:nvSpPr>
        <p:spPr>
          <a:xfrm>
            <a:off x="376428" y="3155454"/>
            <a:ext cx="466344" cy="457200"/>
          </a:xfrm>
          <a:prstGeom prst="rect">
            <a:avLst/>
          </a:prstGeom>
          <a:noFill/>
          <a:ln/>
        </p:spPr>
        <p:txBody>
          <a:bodyPr wrap="square" lIns="0" tIns="0" rIns="0" bIns="0" rtlCol="0" anchor="t"/>
          <a:lstStyle/>
          <a:p>
            <a:pPr marL="0" indent="0" algn="ctr">
              <a:lnSpc>
                <a:spcPts val="3600"/>
              </a:lnSpc>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1028700" y="3009900"/>
            <a:ext cx="7734300" cy="748457"/>
          </a:xfrm>
          <a:prstGeom prst="roundRect">
            <a:avLst>
              <a:gd name="adj" fmla="val 12726"/>
            </a:avLst>
          </a:prstGeom>
          <a:solidFill>
            <a:srgbClr val="FFFFFF"/>
          </a:solidFill>
          <a:ln/>
        </p:spPr>
        <p:txBody>
          <a:bodyPr wrap="square" rtlCol="0" anchor="ctr"/>
          <a:lstStyle/>
          <a:p>
            <a:pPr marL="0" indent="0">
              <a:buNone/>
            </a:pPr>
            <a:endParaRPr lang="en-US" dirty="0"/>
          </a:p>
        </p:txBody>
      </p:sp>
      <p:sp>
        <p:nvSpPr>
          <p:cNvPr id="17" name="Text 15"/>
          <p:cNvSpPr/>
          <p:nvPr/>
        </p:nvSpPr>
        <p:spPr>
          <a:xfrm>
            <a:off x="1181100" y="3162300"/>
            <a:ext cx="7578090" cy="213271"/>
          </a:xfrm>
          <a:prstGeom prst="rect">
            <a:avLst/>
          </a:prstGeom>
          <a:noFill/>
          <a:ln/>
        </p:spPr>
        <p:txBody>
          <a:bodyPr wrap="square" lIns="0" tIns="0" rIns="0" bIns="0" rtlCol="0" anchor="t"/>
          <a:lstStyle/>
          <a:p>
            <a:pPr marL="0" indent="0" algn="l">
              <a:lnSpc>
                <a:spcPts val="1680"/>
              </a:lnSpc>
              <a:buNone/>
            </a:pPr>
            <a:r>
              <a:rPr lang="en-US" sz="1200" b="1" dirty="0">
                <a:solidFill>
                  <a:srgbClr val="1E3A5F"/>
                </a:solidFill>
                <a:latin typeface="Arial" pitchFamily="34" charset="0"/>
                <a:ea typeface="Arial" pitchFamily="34" charset="-122"/>
                <a:cs typeface="Arial" pitchFamily="34" charset="-120"/>
              </a:rPr>
              <a:t>Lancer l'application</a:t>
            </a:r>
            <a:endParaRPr lang="en-US" sz="1200" dirty="0"/>
          </a:p>
        </p:txBody>
      </p:sp>
      <p:sp>
        <p:nvSpPr>
          <p:cNvPr id="18" name="Text 16"/>
          <p:cNvSpPr/>
          <p:nvPr/>
        </p:nvSpPr>
        <p:spPr>
          <a:xfrm>
            <a:off x="1181100" y="3432721"/>
            <a:ext cx="7578090" cy="173236"/>
          </a:xfrm>
          <a:prstGeom prst="rect">
            <a:avLst/>
          </a:prstGeom>
          <a:noFill/>
          <a:ln/>
        </p:spPr>
        <p:txBody>
          <a:bodyPr wrap="square" lIns="0" tIns="0" rIns="0" bIns="0" rtlCol="0" anchor="t"/>
          <a:lstStyle/>
          <a:p>
            <a:pPr marL="0" indent="0" algn="l">
              <a:lnSpc>
                <a:spcPts val="1365"/>
              </a:lnSpc>
              <a:spcBef>
                <a:spcPts val="450"/>
              </a:spcBef>
              <a:buNone/>
            </a:pPr>
            <a:r>
              <a:rPr lang="en-US" sz="975" dirty="0">
                <a:solidFill>
                  <a:srgbClr val="78716C"/>
                </a:solidFill>
                <a:latin typeface="monospace" pitchFamily="34" charset="0"/>
                <a:ea typeface="monospace" pitchFamily="34" charset="-122"/>
                <a:cs typeface="monospace" pitchFamily="34" charset="-120"/>
              </a:rPr>
              <a:t>streamlit run app.py</a:t>
            </a:r>
            <a:endParaRPr lang="en-US" sz="975" dirty="0"/>
          </a:p>
        </p:txBody>
      </p:sp>
      <p:sp>
        <p:nvSpPr>
          <p:cNvPr id="19" name="Text 17"/>
          <p:cNvSpPr/>
          <p:nvPr/>
        </p:nvSpPr>
        <p:spPr>
          <a:xfrm>
            <a:off x="381000" y="4056311"/>
            <a:ext cx="457200" cy="457200"/>
          </a:xfrm>
          <a:prstGeom prst="roundRect">
            <a:avLst>
              <a:gd name="adj" fmla="val 200000"/>
            </a:avLst>
          </a:prstGeom>
          <a:solidFill>
            <a:srgbClr val="059669"/>
          </a:solidFill>
          <a:ln/>
        </p:spPr>
        <p:txBody>
          <a:bodyPr wrap="square" rtlCol="0" anchor="ctr"/>
          <a:lstStyle/>
          <a:p>
            <a:pPr marL="0" indent="0">
              <a:buNone/>
            </a:pPr>
            <a:endParaRPr lang="en-US" dirty="0"/>
          </a:p>
        </p:txBody>
      </p:sp>
      <p:sp>
        <p:nvSpPr>
          <p:cNvPr id="20" name="Text 18"/>
          <p:cNvSpPr/>
          <p:nvPr/>
        </p:nvSpPr>
        <p:spPr>
          <a:xfrm>
            <a:off x="376428" y="4056311"/>
            <a:ext cx="466344" cy="457200"/>
          </a:xfrm>
          <a:prstGeom prst="rect">
            <a:avLst/>
          </a:prstGeom>
          <a:noFill/>
          <a:ln/>
        </p:spPr>
        <p:txBody>
          <a:bodyPr wrap="square" lIns="0" tIns="0" rIns="0" bIns="0" rtlCol="0" anchor="t"/>
          <a:lstStyle/>
          <a:p>
            <a:pPr marL="0" indent="0" algn="ctr">
              <a:lnSpc>
                <a:spcPts val="36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1" name="Text 19"/>
          <p:cNvSpPr/>
          <p:nvPr/>
        </p:nvSpPr>
        <p:spPr>
          <a:xfrm>
            <a:off x="1028700" y="3910757"/>
            <a:ext cx="7734300" cy="748457"/>
          </a:xfrm>
          <a:prstGeom prst="roundRect">
            <a:avLst>
              <a:gd name="adj" fmla="val 12726"/>
            </a:avLst>
          </a:prstGeom>
          <a:solidFill>
            <a:srgbClr val="059669"/>
          </a:solidFill>
          <a:ln/>
        </p:spPr>
        <p:txBody>
          <a:bodyPr wrap="square" rtlCol="0" anchor="ctr"/>
          <a:lstStyle/>
          <a:p>
            <a:pPr marL="0" indent="0">
              <a:buNone/>
            </a:pPr>
            <a:endParaRPr lang="en-US" dirty="0"/>
          </a:p>
        </p:txBody>
      </p:sp>
      <p:sp>
        <p:nvSpPr>
          <p:cNvPr id="22" name="Text 20"/>
          <p:cNvSpPr/>
          <p:nvPr/>
        </p:nvSpPr>
        <p:spPr>
          <a:xfrm>
            <a:off x="1181100" y="4063157"/>
            <a:ext cx="7578090" cy="213271"/>
          </a:xfrm>
          <a:prstGeom prst="rect">
            <a:avLst/>
          </a:prstGeom>
          <a:noFill/>
          <a:ln/>
        </p:spPr>
        <p:txBody>
          <a:bodyPr wrap="square" lIns="0" tIns="0" rIns="0" bIns="0" rtlCol="0" anchor="t"/>
          <a:lstStyle/>
          <a:p>
            <a:pPr marL="0" indent="0" algn="l">
              <a:lnSpc>
                <a:spcPts val="1680"/>
              </a:lnSpc>
              <a:buNone/>
            </a:pPr>
            <a:r>
              <a:rPr lang="en-US" sz="1200" b="1" dirty="0">
                <a:solidFill>
                  <a:srgbClr val="FFFFFF"/>
                </a:solidFill>
                <a:latin typeface="Arial" pitchFamily="34" charset="0"/>
                <a:ea typeface="Arial" pitchFamily="34" charset="-122"/>
                <a:cs typeface="Arial" pitchFamily="34" charset="-120"/>
              </a:rPr>
              <a:t>Accéder à l'application</a:t>
            </a:r>
            <a:endParaRPr lang="en-US" sz="1200" dirty="0"/>
          </a:p>
        </p:txBody>
      </p:sp>
      <p:sp>
        <p:nvSpPr>
          <p:cNvPr id="23" name="Text 21"/>
          <p:cNvSpPr/>
          <p:nvPr/>
        </p:nvSpPr>
        <p:spPr>
          <a:xfrm>
            <a:off x="1181100" y="4333577"/>
            <a:ext cx="7578090" cy="173236"/>
          </a:xfrm>
          <a:prstGeom prst="rect">
            <a:avLst/>
          </a:prstGeom>
          <a:noFill/>
          <a:ln/>
        </p:spPr>
        <p:txBody>
          <a:bodyPr wrap="square" lIns="0" tIns="0" rIns="0" bIns="0" rtlCol="0" anchor="t"/>
          <a:lstStyle/>
          <a:p>
            <a:pPr marL="0" indent="0" algn="l">
              <a:lnSpc>
                <a:spcPts val="1365"/>
              </a:lnSpc>
              <a:spcBef>
                <a:spcPts val="450"/>
              </a:spcBef>
              <a:buNone/>
            </a:pPr>
            <a:r>
              <a:rPr lang="en-US" sz="975" dirty="0">
                <a:solidFill>
                  <a:srgbClr val="FFFFFF">
                    <a:alpha val="90000"/>
                  </a:srgbClr>
                </a:solidFill>
                <a:latin typeface="Arial" pitchFamily="34" charset="0"/>
                <a:ea typeface="Arial" pitchFamily="34" charset="-122"/>
                <a:cs typeface="Arial" pitchFamily="34" charset="-120"/>
              </a:rPr>
              <a:t>Application disponible sur http://localhost:8501</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EF7ED"/>
        </a:solidFill>
        <a:effectLst/>
      </p:bgPr>
    </p:bg>
    <p:spTree>
      <p:nvGrpSpPr>
        <p:cNvPr id="1" name=""/>
        <p:cNvGrpSpPr/>
        <p:nvPr/>
      </p:nvGrpSpPr>
      <p:grpSpPr>
        <a:xfrm>
          <a:off x="0" y="0"/>
          <a:ext cx="0" cy="0"/>
          <a:chOff x="0" y="0"/>
          <a:chExt cx="0" cy="0"/>
        </a:xfrm>
      </p:grpSpPr>
      <p:sp>
        <p:nvSpPr>
          <p:cNvPr id="2" name="Shape 0"/>
          <p:cNvSpPr/>
          <p:nvPr/>
        </p:nvSpPr>
        <p:spPr>
          <a:xfrm>
            <a:off x="219075" y="228600"/>
            <a:ext cx="0" cy="342900"/>
          </a:xfrm>
          <a:prstGeom prst="line">
            <a:avLst/>
          </a:prstGeom>
          <a:noFill/>
          <a:ln w="57150">
            <a:solidFill>
              <a:schemeClr val="accent1">
                <a:lumMod val="50000"/>
              </a:schemeClr>
            </a:solidFill>
            <a:prstDash val="solid"/>
          </a:ln>
        </p:spPr>
        <p:txBody>
          <a:bodyPr/>
          <a:lstStyle/>
          <a:p>
            <a:endParaRPr lang="fr-FR"/>
          </a:p>
        </p:txBody>
      </p:sp>
      <p:sp>
        <p:nvSpPr>
          <p:cNvPr id="3" name="Text 1"/>
          <p:cNvSpPr/>
          <p:nvPr/>
        </p:nvSpPr>
        <p:spPr>
          <a:xfrm>
            <a:off x="400050" y="228600"/>
            <a:ext cx="4371975" cy="342900"/>
          </a:xfrm>
          <a:prstGeom prst="rect">
            <a:avLst/>
          </a:prstGeom>
          <a:noFill/>
          <a:ln/>
        </p:spPr>
        <p:txBody>
          <a:bodyPr wrap="square" lIns="0" tIns="0" rIns="0" bIns="0" rtlCol="0" anchor="t"/>
          <a:lstStyle/>
          <a:p>
            <a:pPr marL="0" indent="0" algn="l">
              <a:lnSpc>
                <a:spcPts val="2700"/>
              </a:lnSpc>
              <a:buNone/>
            </a:pPr>
            <a:r>
              <a:rPr lang="en-US" sz="2700" b="1" dirty="0">
                <a:solidFill>
                  <a:srgbClr val="1E3A5F"/>
                </a:solidFill>
                <a:latin typeface="Georgia" pitchFamily="34" charset="0"/>
                <a:ea typeface="Georgia" pitchFamily="34" charset="-122"/>
                <a:cs typeface="Georgia" pitchFamily="34" charset="-120"/>
              </a:rPr>
              <a:t>Limitations et Évolutions</a:t>
            </a:r>
            <a:endParaRPr lang="en-US" sz="2700" dirty="0"/>
          </a:p>
        </p:txBody>
      </p:sp>
      <p:sp>
        <p:nvSpPr>
          <p:cNvPr id="4" name="Text 2"/>
          <p:cNvSpPr/>
          <p:nvPr/>
        </p:nvSpPr>
        <p:spPr>
          <a:xfrm>
            <a:off x="468264" y="1276498"/>
            <a:ext cx="4103736" cy="213271"/>
          </a:xfrm>
          <a:prstGeom prst="rect">
            <a:avLst/>
          </a:prstGeom>
          <a:noFill/>
          <a:ln/>
        </p:spPr>
        <p:txBody>
          <a:bodyPr wrap="square" lIns="0" tIns="0" rIns="0" bIns="0" rtlCol="0" anchor="t"/>
          <a:lstStyle/>
          <a:p>
            <a:pPr marL="0" indent="0" algn="l">
              <a:lnSpc>
                <a:spcPts val="1680"/>
              </a:lnSpc>
              <a:spcAft>
                <a:spcPts val="300"/>
              </a:spcAft>
              <a:buNone/>
            </a:pPr>
            <a:r>
              <a:rPr lang="en-US" sz="1200" b="1" dirty="0">
                <a:solidFill>
                  <a:srgbClr val="1E3A5F"/>
                </a:solidFill>
                <a:latin typeface="Georgia" panose="02040502050405020303" pitchFamily="18" charset="0"/>
                <a:ea typeface="Arial" pitchFamily="34" charset="-122"/>
                <a:cs typeface="Arial" pitchFamily="34" charset="-120"/>
              </a:rPr>
              <a:t> Limitations actuelles</a:t>
            </a:r>
            <a:endParaRPr lang="en-US" sz="1200" dirty="0">
              <a:latin typeface="Georgia" panose="02040502050405020303" pitchFamily="18" charset="0"/>
            </a:endParaRPr>
          </a:p>
        </p:txBody>
      </p:sp>
      <p:sp>
        <p:nvSpPr>
          <p:cNvPr id="5" name="Text 3"/>
          <p:cNvSpPr/>
          <p:nvPr/>
        </p:nvSpPr>
        <p:spPr>
          <a:xfrm>
            <a:off x="381000" y="1748377"/>
            <a:ext cx="4023271" cy="651421"/>
          </a:xfrm>
          <a:prstGeom prst="roundRect">
            <a:avLst>
              <a:gd name="adj" fmla="val 14622"/>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6" name="Text 4"/>
          <p:cNvSpPr/>
          <p:nvPr/>
        </p:nvSpPr>
        <p:spPr>
          <a:xfrm>
            <a:off x="533400" y="1881727"/>
            <a:ext cx="3792840" cy="186630"/>
          </a:xfrm>
          <a:prstGeom prst="rect">
            <a:avLst/>
          </a:prstGeom>
          <a:noFill/>
          <a:ln/>
        </p:spPr>
        <p:txBody>
          <a:bodyPr wrap="square" lIns="0" tIns="0" rIns="0" bIns="0" rtlCol="0" anchor="t"/>
          <a:lstStyle/>
          <a:p>
            <a:pPr marL="0" indent="0" algn="l">
              <a:lnSpc>
                <a:spcPts val="1470"/>
              </a:lnSpc>
              <a:buNone/>
            </a:pPr>
            <a:r>
              <a:rPr lang="en-US" sz="1050" b="1" dirty="0">
                <a:solidFill>
                  <a:srgbClr val="DC2626"/>
                </a:solidFill>
                <a:latin typeface="Georgia" panose="02040502050405020303" pitchFamily="18" charset="0"/>
                <a:ea typeface="Arial" pitchFamily="34" charset="-122"/>
                <a:cs typeface="Arial" pitchFamily="34" charset="-120"/>
              </a:rPr>
              <a:t>3 races seulement</a:t>
            </a:r>
            <a:endParaRPr lang="en-US" sz="1050" dirty="0">
              <a:latin typeface="Georgia" panose="02040502050405020303" pitchFamily="18" charset="0"/>
            </a:endParaRPr>
          </a:p>
        </p:txBody>
      </p:sp>
      <p:sp>
        <p:nvSpPr>
          <p:cNvPr id="7" name="Text 5"/>
          <p:cNvSpPr/>
          <p:nvPr/>
        </p:nvSpPr>
        <p:spPr>
          <a:xfrm>
            <a:off x="533400" y="2106458"/>
            <a:ext cx="3792840"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Golden Retriever, Eskimo dogs, et Chihuahua</a:t>
            </a:r>
            <a:endParaRPr lang="en-US" sz="900" dirty="0">
              <a:latin typeface="Georgia" panose="02040502050405020303" pitchFamily="18" charset="0"/>
            </a:endParaRPr>
          </a:p>
        </p:txBody>
      </p:sp>
      <p:sp>
        <p:nvSpPr>
          <p:cNvPr id="8" name="Text 6"/>
          <p:cNvSpPr/>
          <p:nvPr/>
        </p:nvSpPr>
        <p:spPr>
          <a:xfrm>
            <a:off x="380999" y="2520539"/>
            <a:ext cx="4023272" cy="721180"/>
          </a:xfrm>
          <a:prstGeom prst="roundRect">
            <a:avLst>
              <a:gd name="adj" fmla="val 14622"/>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9" name="Text 7"/>
          <p:cNvSpPr/>
          <p:nvPr/>
        </p:nvSpPr>
        <p:spPr>
          <a:xfrm>
            <a:off x="533400" y="2647448"/>
            <a:ext cx="3792840" cy="186630"/>
          </a:xfrm>
          <a:prstGeom prst="rect">
            <a:avLst/>
          </a:prstGeom>
          <a:noFill/>
          <a:ln/>
        </p:spPr>
        <p:txBody>
          <a:bodyPr wrap="square" lIns="0" tIns="0" rIns="0" bIns="0" rtlCol="0" anchor="t"/>
          <a:lstStyle/>
          <a:p>
            <a:pPr marL="0" indent="0" algn="l">
              <a:lnSpc>
                <a:spcPts val="1470"/>
              </a:lnSpc>
              <a:buNone/>
            </a:pPr>
            <a:r>
              <a:rPr lang="en-US" sz="1050" b="1" dirty="0">
                <a:solidFill>
                  <a:srgbClr val="DC2626"/>
                </a:solidFill>
                <a:latin typeface="Georgia" panose="02040502050405020303" pitchFamily="18" charset="0"/>
                <a:ea typeface="Arial" pitchFamily="34" charset="-122"/>
                <a:cs typeface="Arial" pitchFamily="34" charset="-120"/>
              </a:rPr>
              <a:t>Photos de qualité </a:t>
            </a:r>
            <a:endParaRPr lang="en-US" sz="1050" dirty="0">
              <a:latin typeface="Georgia" panose="02040502050405020303" pitchFamily="18" charset="0"/>
            </a:endParaRPr>
          </a:p>
        </p:txBody>
      </p:sp>
      <p:sp>
        <p:nvSpPr>
          <p:cNvPr id="10" name="Text 8"/>
          <p:cNvSpPr/>
          <p:nvPr/>
        </p:nvSpPr>
        <p:spPr>
          <a:xfrm>
            <a:off x="533400" y="2872178"/>
            <a:ext cx="3792840" cy="159990"/>
          </a:xfrm>
          <a:prstGeom prst="rect">
            <a:avLst/>
          </a:prstGeom>
          <a:noFill/>
          <a:ln/>
        </p:spPr>
        <p:txBody>
          <a:bodyPr wrap="square" lIns="0" tIns="0" rIns="0" bIns="0" rtlCol="0" anchor="t"/>
          <a:lstStyle/>
          <a:p>
            <a:pPr marL="0" indent="0" algn="l">
              <a:lnSpc>
                <a:spcPts val="1260"/>
              </a:lnSpc>
              <a:spcBef>
                <a:spcPts val="300"/>
              </a:spcBef>
              <a:buNone/>
            </a:pPr>
            <a:endParaRPr lang="en-US" sz="900" dirty="0">
              <a:latin typeface="Georgia" panose="02040502050405020303" pitchFamily="18" charset="0"/>
            </a:endParaRPr>
          </a:p>
        </p:txBody>
      </p:sp>
      <p:sp>
        <p:nvSpPr>
          <p:cNvPr id="11" name="Text 9"/>
          <p:cNvSpPr/>
          <p:nvPr/>
        </p:nvSpPr>
        <p:spPr>
          <a:xfrm>
            <a:off x="381000" y="3376075"/>
            <a:ext cx="4023271" cy="740866"/>
          </a:xfrm>
          <a:prstGeom prst="roundRect">
            <a:avLst>
              <a:gd name="adj" fmla="val 14622"/>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2" name="Text 10"/>
          <p:cNvSpPr/>
          <p:nvPr/>
        </p:nvSpPr>
        <p:spPr>
          <a:xfrm>
            <a:off x="533400" y="3509425"/>
            <a:ext cx="3792840" cy="186630"/>
          </a:xfrm>
          <a:prstGeom prst="rect">
            <a:avLst/>
          </a:prstGeom>
          <a:noFill/>
          <a:ln/>
        </p:spPr>
        <p:txBody>
          <a:bodyPr wrap="square" lIns="0" tIns="0" rIns="0" bIns="0" rtlCol="0" anchor="t"/>
          <a:lstStyle/>
          <a:p>
            <a:pPr marL="0" indent="0" algn="l">
              <a:lnSpc>
                <a:spcPts val="1470"/>
              </a:lnSpc>
              <a:buNone/>
            </a:pPr>
            <a:r>
              <a:rPr lang="en-US" sz="1050" b="1" dirty="0">
                <a:solidFill>
                  <a:srgbClr val="DC2626"/>
                </a:solidFill>
                <a:latin typeface="Georgia" panose="02040502050405020303" pitchFamily="18" charset="0"/>
                <a:ea typeface="Arial" pitchFamily="34" charset="-122"/>
                <a:cs typeface="Arial" pitchFamily="34" charset="-120"/>
              </a:rPr>
              <a:t>Races inconnues</a:t>
            </a:r>
            <a:endParaRPr lang="en-US" sz="1050" dirty="0">
              <a:latin typeface="Georgia" panose="02040502050405020303" pitchFamily="18" charset="0"/>
            </a:endParaRPr>
          </a:p>
        </p:txBody>
      </p:sp>
      <p:sp>
        <p:nvSpPr>
          <p:cNvPr id="13" name="Text 11"/>
          <p:cNvSpPr/>
          <p:nvPr/>
        </p:nvSpPr>
        <p:spPr>
          <a:xfrm>
            <a:off x="533400" y="3734155"/>
            <a:ext cx="3792840"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Le modèle choisira parmi les 3 races d’où la mise en place d’une 4ème classe “autre”</a:t>
            </a:r>
            <a:endParaRPr lang="en-US" sz="900" dirty="0">
              <a:latin typeface="Georgia" panose="02040502050405020303" pitchFamily="18" charset="0"/>
            </a:endParaRPr>
          </a:p>
        </p:txBody>
      </p:sp>
      <p:sp>
        <p:nvSpPr>
          <p:cNvPr id="14" name="Text 12"/>
          <p:cNvSpPr/>
          <p:nvPr/>
        </p:nvSpPr>
        <p:spPr>
          <a:xfrm>
            <a:off x="4709071" y="1276499"/>
            <a:ext cx="4103736" cy="213271"/>
          </a:xfrm>
          <a:prstGeom prst="rect">
            <a:avLst/>
          </a:prstGeom>
          <a:noFill/>
          <a:ln/>
        </p:spPr>
        <p:txBody>
          <a:bodyPr wrap="square" lIns="0" tIns="0" rIns="0" bIns="0" rtlCol="0" anchor="t"/>
          <a:lstStyle/>
          <a:p>
            <a:pPr marL="0" indent="0" algn="l">
              <a:lnSpc>
                <a:spcPts val="1680"/>
              </a:lnSpc>
              <a:spcAft>
                <a:spcPts val="300"/>
              </a:spcAft>
              <a:buNone/>
            </a:pPr>
            <a:r>
              <a:rPr lang="en-US" sz="1200" b="1" dirty="0">
                <a:solidFill>
                  <a:srgbClr val="1E3A5F"/>
                </a:solidFill>
                <a:latin typeface="Georgia" panose="02040502050405020303" pitchFamily="18" charset="0"/>
                <a:ea typeface="Arial" pitchFamily="34" charset="-122"/>
                <a:cs typeface="Arial" pitchFamily="34" charset="-120"/>
              </a:rPr>
              <a:t> Améliorations possibles</a:t>
            </a:r>
            <a:endParaRPr lang="en-US" sz="1200" dirty="0">
              <a:latin typeface="Georgia" panose="02040502050405020303" pitchFamily="18" charset="0"/>
            </a:endParaRPr>
          </a:p>
        </p:txBody>
      </p:sp>
      <p:sp>
        <p:nvSpPr>
          <p:cNvPr id="15" name="Text 13"/>
          <p:cNvSpPr/>
          <p:nvPr/>
        </p:nvSpPr>
        <p:spPr>
          <a:xfrm>
            <a:off x="4709071" y="1642170"/>
            <a:ext cx="4053929" cy="702914"/>
          </a:xfrm>
          <a:prstGeom prst="roundRect">
            <a:avLst>
              <a:gd name="adj" fmla="val 14622"/>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6" name="Text 14"/>
          <p:cNvSpPr/>
          <p:nvPr/>
        </p:nvSpPr>
        <p:spPr>
          <a:xfrm>
            <a:off x="4861471" y="1775520"/>
            <a:ext cx="3792840" cy="186630"/>
          </a:xfrm>
          <a:prstGeom prst="rect">
            <a:avLst/>
          </a:prstGeom>
          <a:noFill/>
          <a:ln/>
        </p:spPr>
        <p:txBody>
          <a:bodyPr wrap="square" lIns="0" tIns="0" rIns="0" bIns="0" rtlCol="0" anchor="t"/>
          <a:lstStyle/>
          <a:p>
            <a:pPr marL="0" indent="0" algn="l">
              <a:lnSpc>
                <a:spcPts val="1470"/>
              </a:lnSpc>
              <a:buNone/>
            </a:pPr>
            <a:r>
              <a:rPr lang="en-US" sz="1050" b="1" dirty="0">
                <a:solidFill>
                  <a:srgbClr val="059669"/>
                </a:solidFill>
                <a:latin typeface="Georgia" panose="02040502050405020303" pitchFamily="18" charset="0"/>
                <a:ea typeface="Arial" pitchFamily="34" charset="-122"/>
                <a:cs typeface="Arial" pitchFamily="34" charset="-120"/>
              </a:rPr>
              <a:t>Ajouter plus de races</a:t>
            </a:r>
            <a:endParaRPr lang="en-US" sz="1050" dirty="0">
              <a:latin typeface="Georgia" panose="02040502050405020303" pitchFamily="18" charset="0"/>
            </a:endParaRPr>
          </a:p>
        </p:txBody>
      </p:sp>
      <p:sp>
        <p:nvSpPr>
          <p:cNvPr id="17" name="Text 15"/>
          <p:cNvSpPr/>
          <p:nvPr/>
        </p:nvSpPr>
        <p:spPr>
          <a:xfrm>
            <a:off x="4861471" y="2000250"/>
            <a:ext cx="3792840"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Le Stanford Dogs Dataset contient 120 races de chiens exploitables</a:t>
            </a:r>
            <a:endParaRPr lang="en-US" sz="900" dirty="0">
              <a:latin typeface="Georgia" panose="02040502050405020303" pitchFamily="18" charset="0"/>
            </a:endParaRPr>
          </a:p>
        </p:txBody>
      </p:sp>
      <p:sp>
        <p:nvSpPr>
          <p:cNvPr id="18" name="Text 16"/>
          <p:cNvSpPr/>
          <p:nvPr/>
        </p:nvSpPr>
        <p:spPr>
          <a:xfrm>
            <a:off x="4739729" y="2420101"/>
            <a:ext cx="4023271" cy="651421"/>
          </a:xfrm>
          <a:prstGeom prst="roundRect">
            <a:avLst>
              <a:gd name="adj" fmla="val 14622"/>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19" name="Text 17"/>
          <p:cNvSpPr/>
          <p:nvPr/>
        </p:nvSpPr>
        <p:spPr>
          <a:xfrm>
            <a:off x="4861471" y="2541240"/>
            <a:ext cx="3792840" cy="186630"/>
          </a:xfrm>
          <a:prstGeom prst="rect">
            <a:avLst/>
          </a:prstGeom>
          <a:noFill/>
          <a:ln/>
        </p:spPr>
        <p:txBody>
          <a:bodyPr wrap="square" lIns="0" tIns="0" rIns="0" bIns="0" rtlCol="0" anchor="t"/>
          <a:lstStyle/>
          <a:p>
            <a:pPr marL="0" indent="0" algn="l">
              <a:lnSpc>
                <a:spcPts val="1470"/>
              </a:lnSpc>
              <a:buNone/>
            </a:pPr>
            <a:r>
              <a:rPr lang="en-US" sz="1050" b="1" dirty="0">
                <a:solidFill>
                  <a:srgbClr val="059669"/>
                </a:solidFill>
                <a:latin typeface="Georgia" panose="02040502050405020303" pitchFamily="18" charset="0"/>
                <a:ea typeface="Arial" pitchFamily="34" charset="-122"/>
                <a:cs typeface="Arial" pitchFamily="34" charset="-120"/>
              </a:rPr>
              <a:t>Application mobile</a:t>
            </a:r>
            <a:endParaRPr lang="en-US" sz="1050" dirty="0">
              <a:latin typeface="Georgia" panose="02040502050405020303" pitchFamily="18" charset="0"/>
            </a:endParaRPr>
          </a:p>
        </p:txBody>
      </p:sp>
      <p:sp>
        <p:nvSpPr>
          <p:cNvPr id="20" name="Text 18"/>
          <p:cNvSpPr/>
          <p:nvPr/>
        </p:nvSpPr>
        <p:spPr>
          <a:xfrm>
            <a:off x="4861471" y="2765971"/>
            <a:ext cx="3792840"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Convertir le modèle en TensorFlow Lite pour adapter l’appli sur les mobiles</a:t>
            </a:r>
            <a:endParaRPr lang="en-US" sz="900" dirty="0">
              <a:latin typeface="Georgia" panose="02040502050405020303" pitchFamily="18" charset="0"/>
            </a:endParaRPr>
          </a:p>
        </p:txBody>
      </p:sp>
      <p:sp>
        <p:nvSpPr>
          <p:cNvPr id="21" name="Text 19"/>
          <p:cNvSpPr/>
          <p:nvPr/>
        </p:nvSpPr>
        <p:spPr>
          <a:xfrm>
            <a:off x="4709071" y="3173610"/>
            <a:ext cx="4103736" cy="913785"/>
          </a:xfrm>
          <a:prstGeom prst="roundRect">
            <a:avLst>
              <a:gd name="adj" fmla="val 14622"/>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2" name="Text 20"/>
          <p:cNvSpPr/>
          <p:nvPr/>
        </p:nvSpPr>
        <p:spPr>
          <a:xfrm>
            <a:off x="4861471" y="3255191"/>
            <a:ext cx="3792840" cy="186630"/>
          </a:xfrm>
          <a:prstGeom prst="rect">
            <a:avLst/>
          </a:prstGeom>
          <a:noFill/>
          <a:ln/>
        </p:spPr>
        <p:txBody>
          <a:bodyPr wrap="square" lIns="0" tIns="0" rIns="0" bIns="0" rtlCol="0" anchor="t"/>
          <a:lstStyle/>
          <a:p>
            <a:pPr marL="0" indent="0" algn="l">
              <a:lnSpc>
                <a:spcPts val="1470"/>
              </a:lnSpc>
              <a:buNone/>
            </a:pPr>
            <a:r>
              <a:rPr lang="en-US" sz="1050" b="1" dirty="0">
                <a:solidFill>
                  <a:srgbClr val="059669"/>
                </a:solidFill>
                <a:latin typeface="Georgia" panose="02040502050405020303" pitchFamily="18" charset="0"/>
                <a:cs typeface="Arial" pitchFamily="34" charset="-120"/>
              </a:rPr>
              <a:t>Automatisation du traitement :</a:t>
            </a:r>
            <a:endParaRPr lang="en-US" sz="1050" dirty="0">
              <a:latin typeface="Georgia" panose="02040502050405020303" pitchFamily="18" charset="0"/>
            </a:endParaRPr>
          </a:p>
        </p:txBody>
      </p:sp>
      <p:sp>
        <p:nvSpPr>
          <p:cNvPr id="23" name="Text 21"/>
          <p:cNvSpPr/>
          <p:nvPr/>
        </p:nvSpPr>
        <p:spPr>
          <a:xfrm>
            <a:off x="4861471" y="3531691"/>
            <a:ext cx="3792840" cy="159990"/>
          </a:xfrm>
          <a:prstGeom prst="rect">
            <a:avLst/>
          </a:prstGeom>
          <a:noFill/>
          <a:ln/>
        </p:spPr>
        <p:txBody>
          <a:bodyPr wrap="square" lIns="0" tIns="0" rIns="0" bIns="0" rtlCol="0" anchor="t"/>
          <a:lstStyle/>
          <a:p>
            <a:pPr>
              <a:lnSpc>
                <a:spcPts val="1260"/>
              </a:lnSpc>
              <a:spcBef>
                <a:spcPts val="300"/>
              </a:spcBef>
            </a:pPr>
            <a:r>
              <a:rPr lang="fr-FR" sz="900" dirty="0"/>
              <a:t> </a:t>
            </a:r>
            <a:r>
              <a:rPr lang="fr-FR" sz="900" dirty="0">
                <a:latin typeface="Georgia" panose="02040502050405020303" pitchFamily="18" charset="0"/>
              </a:rPr>
              <a:t>Comme il y a des milliers d'images, je propose à l'avenir une fonction de "traitement par lot" (batch processing) en plus de la prédiction à l'unité sur Streamlit.</a:t>
            </a:r>
            <a:endParaRPr lang="en-US" sz="900" dirty="0">
              <a:latin typeface="Georgia" panose="02040502050405020303" pitchFamily="18" charset="0"/>
            </a:endParaRPr>
          </a:p>
        </p:txBody>
      </p:sp>
      <p:sp>
        <p:nvSpPr>
          <p:cNvPr id="24" name="Text 22"/>
          <p:cNvSpPr/>
          <p:nvPr/>
        </p:nvSpPr>
        <p:spPr>
          <a:xfrm>
            <a:off x="4709071" y="4232957"/>
            <a:ext cx="4023271" cy="651421"/>
          </a:xfrm>
          <a:prstGeom prst="roundRect">
            <a:avLst>
              <a:gd name="adj" fmla="val 14622"/>
            </a:avLst>
          </a:prstGeom>
          <a:solidFill>
            <a:srgbClr val="FFFFFF"/>
          </a:solidFill>
          <a:ln/>
        </p:spPr>
        <p:txBody>
          <a:bodyPr wrap="square" rtlCol="0" anchor="ctr"/>
          <a:lstStyle/>
          <a:p>
            <a:pPr marL="0" indent="0">
              <a:buNone/>
            </a:pPr>
            <a:endParaRPr lang="en-US" dirty="0">
              <a:latin typeface="Georgia" panose="02040502050405020303" pitchFamily="18" charset="0"/>
            </a:endParaRPr>
          </a:p>
        </p:txBody>
      </p:sp>
      <p:sp>
        <p:nvSpPr>
          <p:cNvPr id="25" name="Text 23"/>
          <p:cNvSpPr/>
          <p:nvPr/>
        </p:nvSpPr>
        <p:spPr>
          <a:xfrm>
            <a:off x="4861471" y="4333938"/>
            <a:ext cx="3792840" cy="186630"/>
          </a:xfrm>
          <a:prstGeom prst="rect">
            <a:avLst/>
          </a:prstGeom>
          <a:noFill/>
          <a:ln/>
        </p:spPr>
        <p:txBody>
          <a:bodyPr wrap="square" lIns="0" tIns="0" rIns="0" bIns="0" rtlCol="0" anchor="t"/>
          <a:lstStyle/>
          <a:p>
            <a:pPr marL="0" indent="0" algn="l">
              <a:lnSpc>
                <a:spcPts val="1470"/>
              </a:lnSpc>
              <a:buNone/>
            </a:pPr>
            <a:r>
              <a:rPr lang="en-US" sz="1050" b="1" dirty="0">
                <a:solidFill>
                  <a:srgbClr val="059669"/>
                </a:solidFill>
                <a:latin typeface="Georgia" panose="02040502050405020303" pitchFamily="18" charset="0"/>
                <a:ea typeface="Arial" pitchFamily="34" charset="-122"/>
                <a:cs typeface="Arial" pitchFamily="34" charset="-120"/>
              </a:rPr>
              <a:t>Deploiement cloud</a:t>
            </a:r>
            <a:endParaRPr lang="en-US" sz="1050" dirty="0">
              <a:latin typeface="Georgia" panose="02040502050405020303" pitchFamily="18" charset="0"/>
            </a:endParaRPr>
          </a:p>
        </p:txBody>
      </p:sp>
      <p:sp>
        <p:nvSpPr>
          <p:cNvPr id="26" name="Text 24"/>
          <p:cNvSpPr/>
          <p:nvPr/>
        </p:nvSpPr>
        <p:spPr>
          <a:xfrm>
            <a:off x="4861471" y="4558668"/>
            <a:ext cx="3792840"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Streamlit Cloud ou Hugging Face Spaces pour un accès en ligne</a:t>
            </a:r>
            <a:endParaRPr lang="en-US" sz="900" dirty="0">
              <a:latin typeface="Georgia" panose="02040502050405020303" pitchFamily="18" charset="0"/>
            </a:endParaRPr>
          </a:p>
        </p:txBody>
      </p:sp>
      <p:sp>
        <p:nvSpPr>
          <p:cNvPr id="27" name="Text 5">
            <a:extLst>
              <a:ext uri="{FF2B5EF4-FFF2-40B4-BE49-F238E27FC236}">
                <a16:creationId xmlns:a16="http://schemas.microsoft.com/office/drawing/2014/main" id="{5B0C6D18-4AD4-C603-BD81-9AC37D0AADE8}"/>
              </a:ext>
            </a:extLst>
          </p:cNvPr>
          <p:cNvSpPr/>
          <p:nvPr/>
        </p:nvSpPr>
        <p:spPr>
          <a:xfrm>
            <a:off x="533400" y="2892583"/>
            <a:ext cx="3792840" cy="159990"/>
          </a:xfrm>
          <a:prstGeom prst="rect">
            <a:avLst/>
          </a:prstGeom>
          <a:noFill/>
          <a:ln/>
        </p:spPr>
        <p:txBody>
          <a:bodyPr wrap="square" lIns="0" tIns="0" rIns="0" bIns="0" rtlCol="0" anchor="t"/>
          <a:lstStyle/>
          <a:p>
            <a:pPr marL="0" indent="0" algn="l">
              <a:lnSpc>
                <a:spcPts val="1260"/>
              </a:lnSpc>
              <a:spcBef>
                <a:spcPts val="300"/>
              </a:spcBef>
              <a:buNone/>
            </a:pPr>
            <a:r>
              <a:rPr lang="en-US" sz="900" dirty="0">
                <a:solidFill>
                  <a:srgbClr val="78716C"/>
                </a:solidFill>
                <a:latin typeface="Georgia" panose="02040502050405020303" pitchFamily="18" charset="0"/>
                <a:ea typeface="Arial" pitchFamily="34" charset="-122"/>
                <a:cs typeface="Arial" pitchFamily="34" charset="-120"/>
              </a:rPr>
              <a:t>Le modèle a été entraîné sur des photos nettes, les photos floues ou partielles peuvent réduire la precision de prédiction</a:t>
            </a:r>
            <a:endParaRPr lang="en-US" sz="900" dirty="0">
              <a:latin typeface="Georgia" panose="020405020504050203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chemeClr val="accent1">
            <a:lumMod val="75000"/>
          </a:schemeClr>
        </a:solidFill>
        <a:effectLst/>
      </p:bgPr>
    </p:bg>
    <p:spTree>
      <p:nvGrpSpPr>
        <p:cNvPr id="1" name=""/>
        <p:cNvGrpSpPr/>
        <p:nvPr/>
      </p:nvGrpSpPr>
      <p:grpSpPr>
        <a:xfrm>
          <a:off x="0" y="0"/>
          <a:ext cx="0" cy="0"/>
          <a:chOff x="0" y="0"/>
          <a:chExt cx="0" cy="0"/>
        </a:xfrm>
      </p:grpSpPr>
      <p:pic>
        <p:nvPicPr>
          <p:cNvPr id="16" name="Image 15" descr="Une image contenant mammifère, Race de chien, chien, animal domestique&#10;&#10;Le contenu généré par l’IA peut être incorrect.">
            <a:extLst>
              <a:ext uri="{FF2B5EF4-FFF2-40B4-BE49-F238E27FC236}">
                <a16:creationId xmlns:a16="http://schemas.microsoft.com/office/drawing/2014/main" id="{D8A31300-2279-59B1-969C-4C2B939A0272}"/>
              </a:ext>
            </a:extLst>
          </p:cNvPr>
          <p:cNvPicPr>
            <a:picLocks noChangeAspect="1"/>
          </p:cNvPicPr>
          <p:nvPr/>
        </p:nvPicPr>
        <p:blipFill>
          <a:blip r:embed="rId3"/>
          <a:stretch>
            <a:fillRect/>
          </a:stretch>
        </p:blipFill>
        <p:spPr>
          <a:xfrm>
            <a:off x="3692994" y="153801"/>
            <a:ext cx="1606588" cy="1243245"/>
          </a:xfrm>
          <a:prstGeom prst="rect">
            <a:avLst/>
          </a:prstGeom>
        </p:spPr>
      </p:pic>
      <p:sp>
        <p:nvSpPr>
          <p:cNvPr id="3" name="Text 1"/>
          <p:cNvSpPr/>
          <p:nvPr/>
        </p:nvSpPr>
        <p:spPr>
          <a:xfrm>
            <a:off x="2495617" y="1528911"/>
            <a:ext cx="4152617" cy="381000"/>
          </a:xfrm>
          <a:prstGeom prst="rect">
            <a:avLst/>
          </a:prstGeom>
          <a:noFill/>
          <a:ln/>
        </p:spPr>
        <p:txBody>
          <a:bodyPr wrap="square" lIns="0" tIns="0" rIns="0" bIns="0" rtlCol="0" anchor="t"/>
          <a:lstStyle/>
          <a:p>
            <a:pPr marL="0" indent="0" algn="ctr">
              <a:lnSpc>
                <a:spcPts val="3000"/>
              </a:lnSpc>
              <a:buNone/>
            </a:pPr>
            <a:r>
              <a:rPr lang="en-US" sz="3000" b="1" dirty="0">
                <a:solidFill>
                  <a:srgbClr val="FFFFFF"/>
                </a:solidFill>
                <a:latin typeface="Georgia" pitchFamily="34" charset="0"/>
                <a:ea typeface="Georgia" pitchFamily="34" charset="-122"/>
                <a:cs typeface="Georgia" pitchFamily="34" charset="-120"/>
              </a:rPr>
              <a:t>Prêt pour la production !</a:t>
            </a:r>
            <a:endParaRPr lang="en-US" sz="3000" dirty="0"/>
          </a:p>
        </p:txBody>
      </p:sp>
      <p:sp>
        <p:nvSpPr>
          <p:cNvPr id="4" name="Text 2"/>
          <p:cNvSpPr/>
          <p:nvPr/>
        </p:nvSpPr>
        <p:spPr>
          <a:xfrm>
            <a:off x="2045368" y="2367111"/>
            <a:ext cx="1301918" cy="479971"/>
          </a:xfrm>
          <a:prstGeom prst="rect">
            <a:avLst/>
          </a:prstGeom>
          <a:noFill/>
          <a:ln/>
        </p:spPr>
        <p:txBody>
          <a:bodyPr wrap="square" lIns="0" tIns="0" rIns="0" bIns="0" rtlCol="0" anchor="t"/>
          <a:lstStyle/>
          <a:p>
            <a:pPr marL="0" indent="0" algn="ctr">
              <a:lnSpc>
                <a:spcPts val="3780"/>
              </a:lnSpc>
              <a:buNone/>
            </a:pPr>
            <a:r>
              <a:rPr lang="en-US" sz="2700" b="1" dirty="0">
                <a:solidFill>
                  <a:srgbClr val="D97706"/>
                </a:solidFill>
                <a:latin typeface="Arial" pitchFamily="34" charset="0"/>
                <a:ea typeface="Arial" pitchFamily="34" charset="-122"/>
                <a:cs typeface="Arial" pitchFamily="34" charset="-120"/>
              </a:rPr>
              <a:t>94,17%</a:t>
            </a:r>
            <a:endParaRPr lang="en-US" sz="2700" dirty="0"/>
          </a:p>
        </p:txBody>
      </p:sp>
      <p:sp>
        <p:nvSpPr>
          <p:cNvPr id="5" name="Text 3"/>
          <p:cNvSpPr/>
          <p:nvPr/>
        </p:nvSpPr>
        <p:spPr>
          <a:xfrm>
            <a:off x="2287861" y="2896962"/>
            <a:ext cx="700123" cy="186630"/>
          </a:xfrm>
          <a:prstGeom prst="rect">
            <a:avLst/>
          </a:prstGeom>
          <a:noFill/>
          <a:ln/>
        </p:spPr>
        <p:txBody>
          <a:bodyPr wrap="square" lIns="0" tIns="0" rIns="0" bIns="0" rtlCol="0" anchor="t"/>
          <a:lstStyle/>
          <a:p>
            <a:pPr marL="0" indent="0" algn="ctr">
              <a:lnSpc>
                <a:spcPts val="1470"/>
              </a:lnSpc>
              <a:spcBef>
                <a:spcPts val="450"/>
              </a:spcBef>
              <a:buNone/>
            </a:pPr>
            <a:r>
              <a:rPr lang="en-US" sz="1050" dirty="0">
                <a:solidFill>
                  <a:srgbClr val="FFFFFF">
                    <a:alpha val="70000"/>
                  </a:srgbClr>
                </a:solidFill>
                <a:latin typeface="Arial" pitchFamily="34" charset="0"/>
                <a:ea typeface="Arial" pitchFamily="34" charset="-122"/>
                <a:cs typeface="Arial" pitchFamily="34" charset="-120"/>
              </a:rPr>
              <a:t>Accuracy</a:t>
            </a:r>
            <a:endParaRPr lang="en-US" sz="1050" dirty="0"/>
          </a:p>
        </p:txBody>
      </p:sp>
      <p:sp>
        <p:nvSpPr>
          <p:cNvPr id="6" name="Text 4"/>
          <p:cNvSpPr/>
          <p:nvPr/>
        </p:nvSpPr>
        <p:spPr>
          <a:xfrm>
            <a:off x="3485257" y="2443163"/>
            <a:ext cx="9525" cy="571500"/>
          </a:xfrm>
          <a:prstGeom prst="rect">
            <a:avLst/>
          </a:prstGeom>
          <a:solidFill>
            <a:srgbClr val="FFFFFF">
              <a:alpha val="30000"/>
            </a:srgbClr>
          </a:solidFill>
          <a:ln/>
        </p:spPr>
        <p:txBody>
          <a:bodyPr wrap="square" rtlCol="0" anchor="ctr"/>
          <a:lstStyle/>
          <a:p>
            <a:pPr marL="0" indent="0">
              <a:buNone/>
            </a:pPr>
            <a:endParaRPr lang="en-US" dirty="0"/>
          </a:p>
        </p:txBody>
      </p:sp>
      <p:sp>
        <p:nvSpPr>
          <p:cNvPr id="7" name="Text 5"/>
          <p:cNvSpPr/>
          <p:nvPr/>
        </p:nvSpPr>
        <p:spPr>
          <a:xfrm>
            <a:off x="3789204" y="2367111"/>
            <a:ext cx="1058534" cy="479971"/>
          </a:xfrm>
          <a:prstGeom prst="rect">
            <a:avLst/>
          </a:prstGeom>
          <a:noFill/>
          <a:ln/>
        </p:spPr>
        <p:txBody>
          <a:bodyPr wrap="square" lIns="0" tIns="0" rIns="0" bIns="0" rtlCol="0" anchor="t"/>
          <a:lstStyle/>
          <a:p>
            <a:pPr marL="0" indent="0" algn="ctr">
              <a:lnSpc>
                <a:spcPts val="3780"/>
              </a:lnSpc>
              <a:buNone/>
            </a:pPr>
            <a:r>
              <a:rPr lang="en-US" sz="2700" b="1" dirty="0">
                <a:solidFill>
                  <a:srgbClr val="D97706"/>
                </a:solidFill>
                <a:latin typeface="Arial" pitchFamily="34" charset="0"/>
                <a:ea typeface="Arial" pitchFamily="34" charset="-122"/>
                <a:cs typeface="Arial" pitchFamily="34" charset="-120"/>
              </a:rPr>
              <a:t>3</a:t>
            </a:r>
            <a:endParaRPr lang="en-US" sz="2700" dirty="0"/>
          </a:p>
        </p:txBody>
      </p:sp>
      <p:sp>
        <p:nvSpPr>
          <p:cNvPr id="8" name="Text 6"/>
          <p:cNvSpPr/>
          <p:nvPr/>
        </p:nvSpPr>
        <p:spPr>
          <a:xfrm>
            <a:off x="3789204" y="2904232"/>
            <a:ext cx="1058534" cy="186630"/>
          </a:xfrm>
          <a:prstGeom prst="rect">
            <a:avLst/>
          </a:prstGeom>
          <a:noFill/>
          <a:ln/>
        </p:spPr>
        <p:txBody>
          <a:bodyPr wrap="square" lIns="0" tIns="0" rIns="0" bIns="0" rtlCol="0" anchor="t"/>
          <a:lstStyle/>
          <a:p>
            <a:pPr marL="0" indent="0" algn="ctr">
              <a:lnSpc>
                <a:spcPts val="1470"/>
              </a:lnSpc>
              <a:spcBef>
                <a:spcPts val="450"/>
              </a:spcBef>
              <a:buNone/>
            </a:pPr>
            <a:r>
              <a:rPr lang="en-US" sz="1050" dirty="0">
                <a:solidFill>
                  <a:srgbClr val="FFFFFF">
                    <a:alpha val="70000"/>
                  </a:srgbClr>
                </a:solidFill>
                <a:latin typeface="Arial" pitchFamily="34" charset="0"/>
                <a:ea typeface="Arial" pitchFamily="34" charset="-122"/>
                <a:cs typeface="Arial" pitchFamily="34" charset="-120"/>
              </a:rPr>
              <a:t>Races reconnues</a:t>
            </a:r>
            <a:endParaRPr lang="en-US" sz="1050" dirty="0"/>
          </a:p>
        </p:txBody>
      </p:sp>
      <p:sp>
        <p:nvSpPr>
          <p:cNvPr id="9" name="Text 7"/>
          <p:cNvSpPr/>
          <p:nvPr/>
        </p:nvSpPr>
        <p:spPr>
          <a:xfrm>
            <a:off x="5142161" y="2443163"/>
            <a:ext cx="9525" cy="571500"/>
          </a:xfrm>
          <a:prstGeom prst="rect">
            <a:avLst/>
          </a:prstGeom>
          <a:solidFill>
            <a:srgbClr val="FFFFFF">
              <a:alpha val="30000"/>
            </a:srgbClr>
          </a:solidFill>
          <a:ln/>
        </p:spPr>
        <p:txBody>
          <a:bodyPr wrap="square" rtlCol="0" anchor="ctr"/>
          <a:lstStyle/>
          <a:p>
            <a:pPr marL="0" indent="0">
              <a:buNone/>
            </a:pPr>
            <a:endParaRPr lang="en-US" dirty="0"/>
          </a:p>
        </p:txBody>
      </p:sp>
      <p:sp>
        <p:nvSpPr>
          <p:cNvPr id="10" name="Text 8"/>
          <p:cNvSpPr/>
          <p:nvPr/>
        </p:nvSpPr>
        <p:spPr>
          <a:xfrm>
            <a:off x="5444551" y="2367111"/>
            <a:ext cx="1217322" cy="479971"/>
          </a:xfrm>
          <a:prstGeom prst="rect">
            <a:avLst/>
          </a:prstGeom>
          <a:noFill/>
          <a:ln/>
        </p:spPr>
        <p:txBody>
          <a:bodyPr wrap="square" lIns="0" tIns="0" rIns="0" bIns="0" rtlCol="0" anchor="t"/>
          <a:lstStyle/>
          <a:p>
            <a:pPr marL="0" indent="0" algn="ctr">
              <a:lnSpc>
                <a:spcPts val="3780"/>
              </a:lnSpc>
              <a:buNone/>
            </a:pPr>
            <a:r>
              <a:rPr lang="en-US" sz="2700" b="1" dirty="0">
                <a:solidFill>
                  <a:srgbClr val="D97706"/>
                </a:solidFill>
                <a:latin typeface="Arial" pitchFamily="34" charset="0"/>
                <a:ea typeface="Arial" pitchFamily="34" charset="-122"/>
                <a:cs typeface="Arial" pitchFamily="34" charset="-120"/>
              </a:rPr>
              <a:t>&lt;2s</a:t>
            </a:r>
            <a:endParaRPr lang="en-US" sz="2700" dirty="0"/>
          </a:p>
        </p:txBody>
      </p:sp>
      <p:sp>
        <p:nvSpPr>
          <p:cNvPr id="11" name="Text 9"/>
          <p:cNvSpPr/>
          <p:nvPr/>
        </p:nvSpPr>
        <p:spPr>
          <a:xfrm>
            <a:off x="5444551" y="2904232"/>
            <a:ext cx="1217322" cy="186630"/>
          </a:xfrm>
          <a:prstGeom prst="rect">
            <a:avLst/>
          </a:prstGeom>
          <a:noFill/>
          <a:ln/>
        </p:spPr>
        <p:txBody>
          <a:bodyPr wrap="square" lIns="0" tIns="0" rIns="0" bIns="0" rtlCol="0" anchor="t"/>
          <a:lstStyle/>
          <a:p>
            <a:pPr marL="0" indent="0" algn="ctr">
              <a:lnSpc>
                <a:spcPts val="1470"/>
              </a:lnSpc>
              <a:spcBef>
                <a:spcPts val="450"/>
              </a:spcBef>
              <a:buNone/>
            </a:pPr>
            <a:r>
              <a:rPr lang="en-US" sz="1050" dirty="0">
                <a:solidFill>
                  <a:srgbClr val="FFFFFF">
                    <a:alpha val="70000"/>
                  </a:srgbClr>
                </a:solidFill>
                <a:latin typeface="Arial" pitchFamily="34" charset="0"/>
                <a:ea typeface="Arial" pitchFamily="34" charset="-122"/>
                <a:cs typeface="Arial" pitchFamily="34" charset="-120"/>
              </a:rPr>
              <a:t>Temps de prédiction</a:t>
            </a:r>
            <a:endParaRPr lang="en-US" sz="1050" dirty="0"/>
          </a:p>
        </p:txBody>
      </p:sp>
      <p:sp>
        <p:nvSpPr>
          <p:cNvPr id="12" name="Text 10"/>
          <p:cNvSpPr/>
          <p:nvPr/>
        </p:nvSpPr>
        <p:spPr>
          <a:xfrm>
            <a:off x="3538835" y="3624263"/>
            <a:ext cx="2066181" cy="479971"/>
          </a:xfrm>
          <a:prstGeom prst="roundRect">
            <a:avLst>
              <a:gd name="adj" fmla="val 59535"/>
            </a:avLst>
          </a:prstGeom>
          <a:solidFill>
            <a:srgbClr val="D97706"/>
          </a:solidFill>
          <a:ln/>
        </p:spPr>
        <p:txBody>
          <a:bodyPr wrap="square" rtlCol="0" anchor="ctr"/>
          <a:lstStyle/>
          <a:p>
            <a:pPr marL="0" indent="0">
              <a:buNone/>
            </a:pPr>
            <a:endParaRPr lang="en-US" dirty="0"/>
          </a:p>
        </p:txBody>
      </p:sp>
      <p:sp>
        <p:nvSpPr>
          <p:cNvPr id="13" name="Text 11"/>
          <p:cNvSpPr/>
          <p:nvPr/>
        </p:nvSpPr>
        <p:spPr>
          <a:xfrm>
            <a:off x="3829069" y="3757613"/>
            <a:ext cx="1485712" cy="213271"/>
          </a:xfrm>
          <a:prstGeom prst="rect">
            <a:avLst/>
          </a:prstGeom>
          <a:noFill/>
          <a:ln/>
        </p:spPr>
        <p:txBody>
          <a:bodyPr wrap="square" lIns="0" tIns="0" rIns="0" bIns="0" rtlCol="0" anchor="t"/>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streamlit run app.py</a:t>
            </a:r>
            <a:endParaRPr lang="en-US" sz="1200" dirty="0"/>
          </a:p>
        </p:txBody>
      </p:sp>
      <p:sp>
        <p:nvSpPr>
          <p:cNvPr id="17" name="Text 4">
            <a:extLst>
              <a:ext uri="{FF2B5EF4-FFF2-40B4-BE49-F238E27FC236}">
                <a16:creationId xmlns:a16="http://schemas.microsoft.com/office/drawing/2014/main" id="{D5B6AD8F-041B-9667-7418-D93909C84D69}"/>
              </a:ext>
            </a:extLst>
          </p:cNvPr>
          <p:cNvSpPr/>
          <p:nvPr/>
        </p:nvSpPr>
        <p:spPr>
          <a:xfrm>
            <a:off x="7003446" y="4847070"/>
            <a:ext cx="2021128" cy="186630"/>
          </a:xfrm>
          <a:prstGeom prst="rect">
            <a:avLst/>
          </a:prstGeom>
          <a:noFill/>
          <a:ln/>
        </p:spPr>
        <p:txBody>
          <a:bodyPr wrap="square" lIns="0" tIns="0" rIns="0" bIns="0" rtlCol="0" anchor="t"/>
          <a:lstStyle/>
          <a:p>
            <a:pPr marL="0" indent="0" algn="ctr">
              <a:lnSpc>
                <a:spcPts val="1470"/>
              </a:lnSpc>
              <a:spcBef>
                <a:spcPts val="3000"/>
              </a:spcBef>
              <a:buNone/>
            </a:pPr>
            <a:r>
              <a:rPr lang="en-US" sz="1050" dirty="0">
                <a:solidFill>
                  <a:srgbClr val="FFFFFF">
                    <a:alpha val="60000"/>
                  </a:srgbClr>
                </a:solidFill>
                <a:latin typeface="Arial" pitchFamily="34" charset="0"/>
                <a:ea typeface="Arial" pitchFamily="34" charset="-122"/>
                <a:cs typeface="Arial" pitchFamily="34" charset="-120"/>
              </a:rPr>
              <a:t>Ludivine Goldstein • Janvier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7885</TotalTime>
  <Words>685</Words>
  <Application>Microsoft Office PowerPoint</Application>
  <PresentationFormat>Affichage à l'écran (16:9)</PresentationFormat>
  <Paragraphs>127</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Georgia</vt:lpstr>
      <vt:lpstr>monospace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Refuge - Classification de races de chiens</dc:title>
  <dc:subject>Guide de déploiement en production</dc:subject>
  <dc:creator>Ludivine Goldstein</dc:creator>
  <cp:lastModifiedBy>GOLDSTEIN Ludivine</cp:lastModifiedBy>
  <cp:revision>9</cp:revision>
  <dcterms:created xsi:type="dcterms:W3CDTF">2026-01-23T12:04:01Z</dcterms:created>
  <dcterms:modified xsi:type="dcterms:W3CDTF">2026-02-03T10:23:36Z</dcterms:modified>
</cp:coreProperties>
</file>